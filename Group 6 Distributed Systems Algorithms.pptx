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3200400" cy="1828800"/>
  <p:notesSz cx="6858000" cy="9144000"/>
  <p:embeddedFontLst>
    <p:embeddedFont>
      <p:font typeface="Mokoto" charset="1" panose="00000000000000000000"/>
      <p:regular r:id="rId29"/>
    </p:embeddedFont>
    <p:embeddedFont>
      <p:font typeface="TT Chocolates" charset="1" panose="02000503020000020003"/>
      <p:regular r:id="rId30"/>
    </p:embeddedFont>
    <p:embeddedFont>
      <p:font typeface="TT Hoves Bold" charset="1" panose="02000003020000060003"/>
      <p:regular r:id="rId31"/>
    </p:embeddedFont>
    <p:embeddedFont>
      <p:font typeface="Canva Sans" charset="1" panose="020B0503030501040103"/>
      <p:regular r:id="rId32"/>
    </p:embeddedFont>
    <p:embeddedFont>
      <p:font typeface="Canva Sans Bold Italics" charset="1" panose="020B0803030501040103"/>
      <p:regular r:id="rId33"/>
    </p:embeddedFont>
    <p:embeddedFont>
      <p:font typeface="Poppins Bold" charset="1" panose="00000800000000000000"/>
      <p:regular r:id="rId34"/>
    </p:embeddedFont>
    <p:embeddedFont>
      <p:font typeface="Canva Sans Italics" charset="1" panose="020B0503030501040103"/>
      <p:regular r:id="rId35"/>
    </p:embeddedFont>
    <p:embeddedFont>
      <p:font typeface="Canva Sans Bold" charset="1" panose="020B0803030501040103"/>
      <p:regular r:id="rId36"/>
    </p:embeddedFont>
    <p:embeddedFont>
      <p:font typeface="Montserrat" charset="1" panose="00000500000000000000"/>
      <p:regular r:id="rId37"/>
    </p:embeddedFont>
    <p:embeddedFont>
      <p:font typeface="Poppins" charset="1" panose="00000500000000000000"/>
      <p:regular r:id="rId38"/>
    </p:embeddedFont>
    <p:embeddedFont>
      <p:font typeface="DM Sans Bold" charset="1" panose="00000000000000000000"/>
      <p:regular r:id="rId39"/>
    </p:embeddedFont>
    <p:embeddedFont>
      <p:font typeface="DM Sans" charset="1" panose="00000000000000000000"/>
      <p:regular r:id="rId40"/>
    </p:embeddedFont>
    <p:embeddedFont>
      <p:font typeface="Canva Student Font" charset="1" panose="00000000000000000000"/>
      <p:regular r:id="rId41"/>
    </p:embeddedFont>
    <p:embeddedFont>
      <p:font typeface="Klein Bold" charset="1" panose="02000503060000020004"/>
      <p:regular r:id="rId42"/>
    </p:embeddedFont>
    <p:embeddedFont>
      <p:font typeface="AC Compacta" charset="1" panose="00000000000000000000"/>
      <p:regular r:id="rId43"/>
    </p:embeddedFont>
    <p:embeddedFont>
      <p:font typeface="Open Sans" charset="1" panose="00000000000000000000"/>
      <p:regular r:id="rId44"/>
    </p:embeddedFont>
    <p:embeddedFont>
      <p:font typeface="Open Sans Bold" charset="1" panose="00000000000000000000"/>
      <p:regular r:id="rId45"/>
    </p:embeddedFont>
    <p:embeddedFont>
      <p:font typeface="Montserrat Medium" charset="1" panose="000006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4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4.jpe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591123" y="-770564"/>
            <a:ext cx="1998083" cy="3369928"/>
          </a:xfrm>
          <a:custGeom>
            <a:avLst/>
            <a:gdLst/>
            <a:ahLst/>
            <a:cxnLst/>
            <a:rect r="r" b="b" t="t" l="l"/>
            <a:pathLst>
              <a:path h="3369928" w="1998083">
                <a:moveTo>
                  <a:pt x="0" y="0"/>
                </a:moveTo>
                <a:lnTo>
                  <a:pt x="1998083" y="0"/>
                </a:lnTo>
                <a:lnTo>
                  <a:pt x="1998083" y="3369928"/>
                </a:lnTo>
                <a:lnTo>
                  <a:pt x="0" y="3369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96" r="0" b="-10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3917" y="182880"/>
            <a:ext cx="2192567" cy="1463040"/>
          </a:xfrm>
          <a:custGeom>
            <a:avLst/>
            <a:gdLst/>
            <a:ahLst/>
            <a:cxnLst/>
            <a:rect r="r" b="b" t="t" l="l"/>
            <a:pathLst>
              <a:path h="1463040" w="2192567">
                <a:moveTo>
                  <a:pt x="0" y="0"/>
                </a:moveTo>
                <a:lnTo>
                  <a:pt x="2192566" y="0"/>
                </a:lnTo>
                <a:lnTo>
                  <a:pt x="2192566" y="1463040"/>
                </a:lnTo>
                <a:lnTo>
                  <a:pt x="0" y="1463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791" y="1577072"/>
            <a:ext cx="770710" cy="137697"/>
          </a:xfrm>
          <a:custGeom>
            <a:avLst/>
            <a:gdLst/>
            <a:ahLst/>
            <a:cxnLst/>
            <a:rect r="r" b="b" t="t" l="l"/>
            <a:pathLst>
              <a:path h="137697" w="770710">
                <a:moveTo>
                  <a:pt x="0" y="0"/>
                </a:moveTo>
                <a:lnTo>
                  <a:pt x="770711" y="0"/>
                </a:lnTo>
                <a:lnTo>
                  <a:pt x="770711" y="137696"/>
                </a:lnTo>
                <a:lnTo>
                  <a:pt x="0" y="1376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04702" y="456282"/>
            <a:ext cx="390996" cy="39099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1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472791" y="-283303"/>
            <a:ext cx="1998072" cy="1998072"/>
          </a:xfrm>
          <a:custGeom>
            <a:avLst/>
            <a:gdLst/>
            <a:ahLst/>
            <a:cxnLst/>
            <a:rect r="r" b="b" t="t" l="l"/>
            <a:pathLst>
              <a:path h="1998072" w="1998072">
                <a:moveTo>
                  <a:pt x="1998072" y="1998071"/>
                </a:moveTo>
                <a:lnTo>
                  <a:pt x="0" y="1998071"/>
                </a:lnTo>
                <a:lnTo>
                  <a:pt x="0" y="0"/>
                </a:lnTo>
                <a:lnTo>
                  <a:pt x="1998072" y="0"/>
                </a:lnTo>
                <a:lnTo>
                  <a:pt x="1998072" y="199807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9187" y="488851"/>
            <a:ext cx="342026" cy="325857"/>
          </a:xfrm>
          <a:custGeom>
            <a:avLst/>
            <a:gdLst/>
            <a:ahLst/>
            <a:cxnLst/>
            <a:rect r="r" b="b" t="t" l="l"/>
            <a:pathLst>
              <a:path h="325857" w="342026">
                <a:moveTo>
                  <a:pt x="0" y="0"/>
                </a:moveTo>
                <a:lnTo>
                  <a:pt x="342026" y="0"/>
                </a:lnTo>
                <a:lnTo>
                  <a:pt x="342026" y="325858"/>
                </a:lnTo>
                <a:lnTo>
                  <a:pt x="0" y="3258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71964" y="295938"/>
            <a:ext cx="1824273" cy="1824273"/>
          </a:xfrm>
          <a:custGeom>
            <a:avLst/>
            <a:gdLst/>
            <a:ahLst/>
            <a:cxnLst/>
            <a:rect r="r" b="b" t="t" l="l"/>
            <a:pathLst>
              <a:path h="1824273" w="1824273">
                <a:moveTo>
                  <a:pt x="0" y="0"/>
                </a:moveTo>
                <a:lnTo>
                  <a:pt x="1824273" y="0"/>
                </a:lnTo>
                <a:lnTo>
                  <a:pt x="1824273" y="1824273"/>
                </a:lnTo>
                <a:lnTo>
                  <a:pt x="0" y="18242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01660" y="885825"/>
            <a:ext cx="1597080" cy="19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119" spc="-147">
                <a:solidFill>
                  <a:srgbClr val="01FFFF"/>
                </a:solidFill>
                <a:latin typeface="Mokoto"/>
                <a:ea typeface="Mokoto"/>
                <a:cs typeface="Mokoto"/>
                <a:sym typeface="Mokoto"/>
              </a:rPr>
              <a:t>GROUP 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495" y="1110397"/>
            <a:ext cx="1179410" cy="23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"/>
              </a:lnSpc>
            </a:pPr>
            <a:r>
              <a:rPr lang="en-US" sz="712" spc="107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ALGORITHMS FOR DISTRIBUTED SYSTEMS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064"/>
            <a:ext cx="3270073" cy="1985720"/>
          </a:xfrm>
          <a:custGeom>
            <a:avLst/>
            <a:gdLst/>
            <a:ahLst/>
            <a:cxnLst/>
            <a:rect r="r" b="b" t="t" l="l"/>
            <a:pathLst>
              <a:path h="1985720" w="3270073">
                <a:moveTo>
                  <a:pt x="0" y="0"/>
                </a:moveTo>
                <a:lnTo>
                  <a:pt x="3270073" y="0"/>
                </a:lnTo>
                <a:lnTo>
                  <a:pt x="3270073" y="1985720"/>
                </a:lnTo>
                <a:lnTo>
                  <a:pt x="0" y="1985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76" t="0" r="-397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31240" y="-277602"/>
            <a:ext cx="1537920" cy="2458884"/>
          </a:xfrm>
          <a:custGeom>
            <a:avLst/>
            <a:gdLst/>
            <a:ahLst/>
            <a:cxnLst/>
            <a:rect r="r" b="b" t="t" l="l"/>
            <a:pathLst>
              <a:path h="2458884" w="1537920">
                <a:moveTo>
                  <a:pt x="0" y="0"/>
                </a:moveTo>
                <a:lnTo>
                  <a:pt x="1537920" y="0"/>
                </a:lnTo>
                <a:lnTo>
                  <a:pt x="1537920" y="2458884"/>
                </a:lnTo>
                <a:lnTo>
                  <a:pt x="0" y="245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1294072" y="713355"/>
            <a:ext cx="612256" cy="0"/>
          </a:xfrm>
          <a:prstGeom prst="line">
            <a:avLst/>
          </a:prstGeom>
          <a:ln cap="flat" w="9525">
            <a:solidFill>
              <a:srgbClr val="01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20814" y="473637"/>
            <a:ext cx="1558772" cy="23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3"/>
              </a:lnSpc>
              <a:spcBef>
                <a:spcPct val="0"/>
              </a:spcBef>
            </a:pPr>
            <a:r>
              <a:rPr lang="en-US" sz="1359" spc="-179">
                <a:solidFill>
                  <a:srgbClr val="01FFFF"/>
                </a:solidFill>
                <a:latin typeface="Mokoto"/>
                <a:ea typeface="Mokoto"/>
                <a:cs typeface="Mokoto"/>
                <a:sym typeface="Mokoto"/>
              </a:rPr>
              <a:t>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138" y="768976"/>
            <a:ext cx="1732124" cy="7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2"/>
              </a:lnSpc>
            </a:pPr>
            <a:r>
              <a:rPr lang="en-US" sz="787" spc="11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ANGELA MUGWE</a:t>
            </a:r>
          </a:p>
          <a:p>
            <a:pPr algn="ctr">
              <a:lnSpc>
                <a:spcPts val="1102"/>
              </a:lnSpc>
            </a:pPr>
            <a:r>
              <a:rPr lang="en-US" sz="787" spc="11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DALPHINE MOMANYI</a:t>
            </a:r>
          </a:p>
          <a:p>
            <a:pPr algn="ctr">
              <a:lnSpc>
                <a:spcPts val="1102"/>
              </a:lnSpc>
            </a:pPr>
            <a:r>
              <a:rPr lang="en-US" sz="787" spc="11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MILKAH CHELANGAT</a:t>
            </a:r>
          </a:p>
          <a:p>
            <a:pPr algn="ctr">
              <a:lnSpc>
                <a:spcPts val="1102"/>
              </a:lnSpc>
            </a:pPr>
            <a:r>
              <a:rPr lang="en-US" sz="787" spc="11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OWENS OMWANDA</a:t>
            </a:r>
          </a:p>
          <a:p>
            <a:pPr algn="ctr">
              <a:lnSpc>
                <a:spcPts val="1102"/>
              </a:lnSpc>
            </a:pPr>
            <a:r>
              <a:rPr lang="en-US" sz="787" spc="11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RUKIAH MWARI</a:t>
            </a:r>
          </a:p>
          <a:p>
            <a:pPr algn="ctr">
              <a:lnSpc>
                <a:spcPts val="1102"/>
              </a:lnSpc>
            </a:pPr>
            <a:r>
              <a:rPr lang="en-US" sz="787" spc="118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VICTORIA CHEGE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5" t="-6250" r="-4365" b="-62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351" y="36576"/>
            <a:ext cx="1982942" cy="248194"/>
            <a:chOff x="0" y="0"/>
            <a:chExt cx="1728054" cy="2162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8054" cy="216291"/>
            </a:xfrm>
            <a:custGeom>
              <a:avLst/>
              <a:gdLst/>
              <a:ahLst/>
              <a:cxnLst/>
              <a:rect r="r" b="b" t="t" l="l"/>
              <a:pathLst>
                <a:path h="216291" w="1728054">
                  <a:moveTo>
                    <a:pt x="97606" y="0"/>
                  </a:moveTo>
                  <a:lnTo>
                    <a:pt x="1630447" y="0"/>
                  </a:lnTo>
                  <a:cubicBezTo>
                    <a:pt x="1684354" y="0"/>
                    <a:pt x="1728054" y="43700"/>
                    <a:pt x="1728054" y="97606"/>
                  </a:cubicBezTo>
                  <a:lnTo>
                    <a:pt x="1728054" y="118685"/>
                  </a:lnTo>
                  <a:cubicBezTo>
                    <a:pt x="1728054" y="144572"/>
                    <a:pt x="1717770" y="169398"/>
                    <a:pt x="1699466" y="187703"/>
                  </a:cubicBezTo>
                  <a:cubicBezTo>
                    <a:pt x="1681161" y="206008"/>
                    <a:pt x="1656334" y="216291"/>
                    <a:pt x="1630447" y="216291"/>
                  </a:cubicBezTo>
                  <a:lnTo>
                    <a:pt x="97606" y="216291"/>
                  </a:lnTo>
                  <a:cubicBezTo>
                    <a:pt x="71720" y="216291"/>
                    <a:pt x="46893" y="206008"/>
                    <a:pt x="28588" y="187703"/>
                  </a:cubicBezTo>
                  <a:cubicBezTo>
                    <a:pt x="10284" y="169398"/>
                    <a:pt x="0" y="144572"/>
                    <a:pt x="0" y="118685"/>
                  </a:cubicBezTo>
                  <a:lnTo>
                    <a:pt x="0" y="97606"/>
                  </a:lnTo>
                  <a:cubicBezTo>
                    <a:pt x="0" y="71720"/>
                    <a:pt x="10284" y="46893"/>
                    <a:pt x="28588" y="28588"/>
                  </a:cubicBezTo>
                  <a:cubicBezTo>
                    <a:pt x="46893" y="10284"/>
                    <a:pt x="71720" y="0"/>
                    <a:pt x="97606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74320" y="445008"/>
            <a:ext cx="2688336" cy="1120793"/>
            <a:chOff x="0" y="0"/>
            <a:chExt cx="2342776" cy="9767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2777" cy="976726"/>
            </a:xfrm>
            <a:custGeom>
              <a:avLst/>
              <a:gdLst/>
              <a:ahLst/>
              <a:cxnLst/>
              <a:rect r="r" b="b" t="t" l="l"/>
              <a:pathLst>
                <a:path h="976726" w="2342777">
                  <a:moveTo>
                    <a:pt x="71995" y="0"/>
                  </a:moveTo>
                  <a:lnTo>
                    <a:pt x="2270781" y="0"/>
                  </a:lnTo>
                  <a:cubicBezTo>
                    <a:pt x="2310543" y="0"/>
                    <a:pt x="2342777" y="32233"/>
                    <a:pt x="2342777" y="71995"/>
                  </a:cubicBezTo>
                  <a:lnTo>
                    <a:pt x="2342777" y="904731"/>
                  </a:lnTo>
                  <a:cubicBezTo>
                    <a:pt x="2342777" y="923825"/>
                    <a:pt x="2335191" y="942137"/>
                    <a:pt x="2321690" y="955639"/>
                  </a:cubicBezTo>
                  <a:cubicBezTo>
                    <a:pt x="2308188" y="969141"/>
                    <a:pt x="2289876" y="976726"/>
                    <a:pt x="2270781" y="976726"/>
                  </a:cubicBezTo>
                  <a:lnTo>
                    <a:pt x="71995" y="976726"/>
                  </a:lnTo>
                  <a:cubicBezTo>
                    <a:pt x="32233" y="976726"/>
                    <a:pt x="0" y="944493"/>
                    <a:pt x="0" y="904731"/>
                  </a:cubicBezTo>
                  <a:lnTo>
                    <a:pt x="0" y="71995"/>
                  </a:lnTo>
                  <a:cubicBezTo>
                    <a:pt x="0" y="52901"/>
                    <a:pt x="7585" y="34589"/>
                    <a:pt x="21087" y="21087"/>
                  </a:cubicBezTo>
                  <a:cubicBezTo>
                    <a:pt x="34589" y="7585"/>
                    <a:pt x="52901" y="0"/>
                    <a:pt x="71995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72975"/>
            <a:ext cx="1729402" cy="17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"/>
              </a:lnSpc>
              <a:spcBef>
                <a:spcPct val="0"/>
              </a:spcBef>
            </a:pPr>
            <a:r>
              <a:rPr lang="en-US" b="true" sz="515" spc="257">
                <a:solidFill>
                  <a:srgbClr val="05C7F2"/>
                </a:solidFill>
                <a:latin typeface="TT Hoves Bold"/>
                <a:ea typeface="TT Hoves Bold"/>
                <a:cs typeface="TT Hoves Bold"/>
                <a:sym typeface="TT Hoves Bold"/>
              </a:rPr>
              <a:t>CORE DISTRIBUTED SYSTEM ALGORITHMS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525" y="483897"/>
            <a:ext cx="2475925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Distribute</a:t>
            </a: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d systems enable multiple nodes to work together as one system.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087" y="746025"/>
            <a:ext cx="2475925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b="true" sz="600" i="true">
                <a:solidFill>
                  <a:srgbClr val="05C7F2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Key algorithm categories: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</a:t>
            </a: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 Synchronization &amp; Coordination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Consensus (Paxos, Raft, BFT)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Scheduling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Load Balancing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5" t="-6250" r="-4365" b="-62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351" y="36576"/>
            <a:ext cx="1982942" cy="248194"/>
            <a:chOff x="0" y="0"/>
            <a:chExt cx="1728054" cy="2162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8054" cy="216291"/>
            </a:xfrm>
            <a:custGeom>
              <a:avLst/>
              <a:gdLst/>
              <a:ahLst/>
              <a:cxnLst/>
              <a:rect r="r" b="b" t="t" l="l"/>
              <a:pathLst>
                <a:path h="216291" w="1728054">
                  <a:moveTo>
                    <a:pt x="97606" y="0"/>
                  </a:moveTo>
                  <a:lnTo>
                    <a:pt x="1630447" y="0"/>
                  </a:lnTo>
                  <a:cubicBezTo>
                    <a:pt x="1684354" y="0"/>
                    <a:pt x="1728054" y="43700"/>
                    <a:pt x="1728054" y="97606"/>
                  </a:cubicBezTo>
                  <a:lnTo>
                    <a:pt x="1728054" y="118685"/>
                  </a:lnTo>
                  <a:cubicBezTo>
                    <a:pt x="1728054" y="144572"/>
                    <a:pt x="1717770" y="169398"/>
                    <a:pt x="1699466" y="187703"/>
                  </a:cubicBezTo>
                  <a:cubicBezTo>
                    <a:pt x="1681161" y="206008"/>
                    <a:pt x="1656334" y="216291"/>
                    <a:pt x="1630447" y="216291"/>
                  </a:cubicBezTo>
                  <a:lnTo>
                    <a:pt x="97606" y="216291"/>
                  </a:lnTo>
                  <a:cubicBezTo>
                    <a:pt x="71720" y="216291"/>
                    <a:pt x="46893" y="206008"/>
                    <a:pt x="28588" y="187703"/>
                  </a:cubicBezTo>
                  <a:cubicBezTo>
                    <a:pt x="10284" y="169398"/>
                    <a:pt x="0" y="144572"/>
                    <a:pt x="0" y="118685"/>
                  </a:cubicBezTo>
                  <a:lnTo>
                    <a:pt x="0" y="97606"/>
                  </a:lnTo>
                  <a:cubicBezTo>
                    <a:pt x="0" y="71720"/>
                    <a:pt x="10284" y="46893"/>
                    <a:pt x="28588" y="28588"/>
                  </a:cubicBezTo>
                  <a:cubicBezTo>
                    <a:pt x="46893" y="10284"/>
                    <a:pt x="71720" y="0"/>
                    <a:pt x="97606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284770"/>
            <a:ext cx="1389888" cy="1120793"/>
            <a:chOff x="0" y="0"/>
            <a:chExt cx="1211231" cy="9767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1231" cy="976726"/>
            </a:xfrm>
            <a:custGeom>
              <a:avLst/>
              <a:gdLst/>
              <a:ahLst/>
              <a:cxnLst/>
              <a:rect r="r" b="b" t="t" l="l"/>
              <a:pathLst>
                <a:path h="976726" w="1211231">
                  <a:moveTo>
                    <a:pt x="139254" y="0"/>
                  </a:moveTo>
                  <a:lnTo>
                    <a:pt x="1071977" y="0"/>
                  </a:lnTo>
                  <a:cubicBezTo>
                    <a:pt x="1148885" y="0"/>
                    <a:pt x="1211231" y="62346"/>
                    <a:pt x="1211231" y="139254"/>
                  </a:cubicBezTo>
                  <a:lnTo>
                    <a:pt x="1211231" y="837472"/>
                  </a:lnTo>
                  <a:cubicBezTo>
                    <a:pt x="1211231" y="874404"/>
                    <a:pt x="1196560" y="909824"/>
                    <a:pt x="1170445" y="935939"/>
                  </a:cubicBezTo>
                  <a:cubicBezTo>
                    <a:pt x="1144329" y="962055"/>
                    <a:pt x="1108910" y="976726"/>
                    <a:pt x="1071977" y="976726"/>
                  </a:cubicBezTo>
                  <a:lnTo>
                    <a:pt x="139254" y="976726"/>
                  </a:lnTo>
                  <a:cubicBezTo>
                    <a:pt x="62346" y="976726"/>
                    <a:pt x="0" y="914380"/>
                    <a:pt x="0" y="837472"/>
                  </a:cubicBezTo>
                  <a:lnTo>
                    <a:pt x="0" y="139254"/>
                  </a:lnTo>
                  <a:cubicBezTo>
                    <a:pt x="0" y="102322"/>
                    <a:pt x="14671" y="66902"/>
                    <a:pt x="40787" y="40787"/>
                  </a:cubicBezTo>
                  <a:cubicBezTo>
                    <a:pt x="66902" y="14671"/>
                    <a:pt x="102322" y="0"/>
                    <a:pt x="139254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0" y="72975"/>
            <a:ext cx="1729402" cy="17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"/>
              </a:lnSpc>
              <a:spcBef>
                <a:spcPct val="0"/>
              </a:spcBef>
            </a:pPr>
            <a:r>
              <a:rPr lang="en-US" b="true" sz="515" spc="257">
                <a:solidFill>
                  <a:srgbClr val="05C7F2"/>
                </a:solidFill>
                <a:latin typeface="TT Hoves Bold"/>
                <a:ea typeface="TT Hoves Bold"/>
                <a:cs typeface="TT Hoves Bold"/>
                <a:sym typeface="TT Hoves Bold"/>
              </a:rPr>
              <a:t>CORE DISTRIBUTED SYSTEM ALGORITHMS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242" y="340743"/>
            <a:ext cx="1117388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Distribute</a:t>
            </a: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d systems enable multiple nodes to work together as one system.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242" y="739523"/>
            <a:ext cx="1317646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b="true" sz="600" i="true">
                <a:solidFill>
                  <a:srgbClr val="05C7F2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Key algorithm categories: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</a:t>
            </a: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 Synchronization &amp; Coordination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Consensus (Paxos, Raft, BFT)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Scheduling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Load Balancing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29402" y="614825"/>
            <a:ext cx="1389888" cy="1120793"/>
            <a:chOff x="0" y="0"/>
            <a:chExt cx="1211231" cy="976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1231" cy="976726"/>
            </a:xfrm>
            <a:custGeom>
              <a:avLst/>
              <a:gdLst/>
              <a:ahLst/>
              <a:cxnLst/>
              <a:rect r="r" b="b" t="t" l="l"/>
              <a:pathLst>
                <a:path h="976726" w="1211231">
                  <a:moveTo>
                    <a:pt x="139254" y="0"/>
                  </a:moveTo>
                  <a:lnTo>
                    <a:pt x="1071977" y="0"/>
                  </a:lnTo>
                  <a:cubicBezTo>
                    <a:pt x="1148885" y="0"/>
                    <a:pt x="1211231" y="62346"/>
                    <a:pt x="1211231" y="139254"/>
                  </a:cubicBezTo>
                  <a:lnTo>
                    <a:pt x="1211231" y="837472"/>
                  </a:lnTo>
                  <a:cubicBezTo>
                    <a:pt x="1211231" y="874404"/>
                    <a:pt x="1196560" y="909824"/>
                    <a:pt x="1170445" y="935939"/>
                  </a:cubicBezTo>
                  <a:cubicBezTo>
                    <a:pt x="1144329" y="962055"/>
                    <a:pt x="1108910" y="976726"/>
                    <a:pt x="1071977" y="976726"/>
                  </a:cubicBezTo>
                  <a:lnTo>
                    <a:pt x="139254" y="976726"/>
                  </a:lnTo>
                  <a:cubicBezTo>
                    <a:pt x="62346" y="976726"/>
                    <a:pt x="0" y="914380"/>
                    <a:pt x="0" y="837472"/>
                  </a:cubicBezTo>
                  <a:lnTo>
                    <a:pt x="0" y="139254"/>
                  </a:lnTo>
                  <a:cubicBezTo>
                    <a:pt x="0" y="102322"/>
                    <a:pt x="14671" y="66902"/>
                    <a:pt x="40787" y="40787"/>
                  </a:cubicBezTo>
                  <a:cubicBezTo>
                    <a:pt x="66902" y="14671"/>
                    <a:pt x="102322" y="0"/>
                    <a:pt x="139254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865652" y="739523"/>
            <a:ext cx="1117388" cy="40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These</a:t>
            </a: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 algorithms prevent: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Race conditions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Deadlocks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Data inconsistency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5652" y="1165697"/>
            <a:ext cx="1117388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Used</a:t>
            </a: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 in: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Cloud computing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Telecom networks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Microservices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05C7F2"/>
                </a:solidFill>
                <a:latin typeface="Canva Sans"/>
                <a:ea typeface="Canva Sans"/>
                <a:cs typeface="Canva Sans"/>
                <a:sym typeface="Canva Sans"/>
              </a:rPr>
              <a:t>❖ Distributed databases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6295" y="129392"/>
            <a:ext cx="69539" cy="5074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8243" cy="18883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76841" y="1366672"/>
            <a:ext cx="50784" cy="267818"/>
            <a:chOff x="0" y="0"/>
            <a:chExt cx="294878" cy="1555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94878" cy="156462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8039" y="69386"/>
            <a:ext cx="866555" cy="1714627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2189" t="0" r="-22189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978" y="319257"/>
            <a:ext cx="182444" cy="8334"/>
            <a:chOff x="0" y="0"/>
            <a:chExt cx="274578" cy="125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74578" cy="2206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05654" y="40811"/>
            <a:ext cx="1505352" cy="19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"/>
              </a:lnSpc>
            </a:pPr>
            <a:r>
              <a:rPr lang="en-US" b="true" sz="6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SYNCHRONIZATION, CONSENSUS &amp; SCHEDULING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880" y="237940"/>
            <a:ext cx="722774" cy="112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"/>
              </a:lnSpc>
            </a:pPr>
            <a:r>
              <a:rPr lang="en-US" sz="562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Synchronization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Uses distributed locks, semaphores &amp; clocks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Coordinates access to shared resources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Used in Kubernetes, leader election, job scheduling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6295" y="129392"/>
            <a:ext cx="69539" cy="5074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8243" cy="18883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76841" y="1366672"/>
            <a:ext cx="50784" cy="267818"/>
            <a:chOff x="0" y="0"/>
            <a:chExt cx="294878" cy="1555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94878" cy="156462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40144" y="1476346"/>
            <a:ext cx="268900" cy="270053"/>
          </a:xfrm>
          <a:prstGeom prst="rect">
            <a:avLst/>
          </a:prstGeom>
        </p:spPr>
      </p:pic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039" y="69386"/>
            <a:ext cx="866555" cy="1714627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2189" t="0" r="-2218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978" y="319257"/>
            <a:ext cx="182444" cy="8334"/>
            <a:chOff x="0" y="0"/>
            <a:chExt cx="274578" cy="125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74578" cy="2206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4604" y="792781"/>
            <a:ext cx="1024007" cy="589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Ensures agreement among nodes despite failures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Algorithms: Paxos, Raft, BFT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Critical for: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➢ Telecom routing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➢ Cluster control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➢ Metadata consistency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5654" y="40811"/>
            <a:ext cx="1505352" cy="19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"/>
              </a:lnSpc>
            </a:pPr>
            <a:r>
              <a:rPr lang="en-US" b="true" sz="6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SYNCHRONIZATION, CONSENSUS &amp; SCHEDULING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0019" y="626112"/>
            <a:ext cx="841286" cy="7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"/>
              </a:lnSpc>
            </a:pPr>
            <a:r>
              <a:rPr lang="en-US" sz="47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Consensus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880" y="237940"/>
            <a:ext cx="722774" cy="112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"/>
              </a:lnSpc>
            </a:pPr>
            <a:r>
              <a:rPr lang="en-US" sz="562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Synchronization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Uses distributed locks, semaphores &amp; clocks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Coordinates access to shared resources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Used in Kubernetes, leader election, job scheduling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881733">
            <a:off x="1095521" y="1511746"/>
            <a:ext cx="268900" cy="270053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536489">
            <a:off x="958693" y="1481879"/>
            <a:ext cx="268900" cy="270053"/>
          </a:xfrm>
          <a:prstGeom prst="rect">
            <a:avLst/>
          </a:prstGeom>
        </p:spPr>
      </p:pic>
      <p:sp>
        <p:nvSpPr>
          <p:cNvPr name="Freeform 28" id="28"/>
          <p:cNvSpPr/>
          <p:nvPr/>
        </p:nvSpPr>
        <p:spPr>
          <a:xfrm flipH="false" flipV="false" rot="0">
            <a:off x="1035477" y="533524"/>
            <a:ext cx="1190370" cy="1190370"/>
          </a:xfrm>
          <a:custGeom>
            <a:avLst/>
            <a:gdLst/>
            <a:ahLst/>
            <a:cxnLst/>
            <a:rect r="r" b="b" t="t" l="l"/>
            <a:pathLst>
              <a:path h="1190370" w="1190370">
                <a:moveTo>
                  <a:pt x="0" y="0"/>
                </a:moveTo>
                <a:lnTo>
                  <a:pt x="1190370" y="0"/>
                </a:lnTo>
                <a:lnTo>
                  <a:pt x="1190370" y="1190371"/>
                </a:lnTo>
                <a:lnTo>
                  <a:pt x="0" y="11903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6295" y="129392"/>
            <a:ext cx="69539" cy="5074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8243" cy="18883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76841" y="1366672"/>
            <a:ext cx="50784" cy="267818"/>
            <a:chOff x="0" y="0"/>
            <a:chExt cx="294878" cy="1555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94878" cy="156462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3930503">
            <a:off x="871348" y="1534707"/>
            <a:ext cx="268900" cy="270053"/>
          </a:xfrm>
          <a:prstGeom prst="rect">
            <a:avLst/>
          </a:prstGeom>
        </p:spPr>
      </p:pic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039" y="69386"/>
            <a:ext cx="866555" cy="1714627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2189" t="0" r="-2218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398240">
            <a:off x="2172809" y="1488796"/>
            <a:ext cx="268900" cy="270053"/>
          </a:xfrm>
          <a:prstGeom prst="rect">
            <a:avLst/>
          </a:prstGeom>
        </p:spPr>
      </p:pic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2358621" y="104905"/>
            <a:ext cx="818220" cy="1618989"/>
            <a:chOff x="0" y="0"/>
            <a:chExt cx="2620010" cy="51841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2189" t="0" r="-22189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13658">
            <a:off x="1935927" y="1451628"/>
            <a:ext cx="268900" cy="270053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398240">
            <a:off x="1025228" y="1510894"/>
            <a:ext cx="268900" cy="270053"/>
          </a:xfrm>
          <a:prstGeom prst="rect">
            <a:avLst/>
          </a:prstGeom>
        </p:spPr>
      </p:pic>
      <p:sp>
        <p:nvSpPr>
          <p:cNvPr name="Freeform 32" id="32"/>
          <p:cNvSpPr/>
          <p:nvPr/>
        </p:nvSpPr>
        <p:spPr>
          <a:xfrm flipH="false" flipV="false" rot="0">
            <a:off x="1035477" y="533524"/>
            <a:ext cx="1190370" cy="1190370"/>
          </a:xfrm>
          <a:custGeom>
            <a:avLst/>
            <a:gdLst/>
            <a:ahLst/>
            <a:cxnLst/>
            <a:rect r="r" b="b" t="t" l="l"/>
            <a:pathLst>
              <a:path h="1190370" w="1190370">
                <a:moveTo>
                  <a:pt x="0" y="0"/>
                </a:moveTo>
                <a:lnTo>
                  <a:pt x="1190370" y="0"/>
                </a:lnTo>
                <a:lnTo>
                  <a:pt x="1190370" y="1190371"/>
                </a:lnTo>
                <a:lnTo>
                  <a:pt x="0" y="11903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54604" y="792781"/>
            <a:ext cx="1024007" cy="589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Ensures agreement among nodes despite failures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Algorithms: Paxos, Raft, BFT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Critical for: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➢ Telecom routing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➢ Cluster control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➢ Metadata consistency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08978" y="319257"/>
            <a:ext cx="182444" cy="8334"/>
            <a:chOff x="0" y="0"/>
            <a:chExt cx="274578" cy="125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74578" cy="2206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05654" y="40811"/>
            <a:ext cx="1505352" cy="19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"/>
              </a:lnSpc>
            </a:pPr>
            <a:r>
              <a:rPr lang="en-US" b="true" sz="6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SYNCHRONIZATION, CONSENSUS &amp; SCHEDULING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019" y="626112"/>
            <a:ext cx="841286" cy="7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"/>
              </a:lnSpc>
            </a:pPr>
            <a:r>
              <a:rPr lang="en-US" sz="47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Consensus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2880" y="237940"/>
            <a:ext cx="722774" cy="112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"/>
              </a:lnSpc>
            </a:pPr>
            <a:r>
              <a:rPr lang="en-US" sz="562" i="true" b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Synchronization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Uses distributed locks, semaphores &amp; clocks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Coordinates access to shared resources</a:t>
            </a:r>
          </a:p>
          <a:p>
            <a:pPr algn="l" marL="121446" indent="-60723" lvl="1">
              <a:lnSpc>
                <a:spcPts val="787"/>
              </a:lnSpc>
              <a:buFont typeface="Arial"/>
              <a:buChar char="•"/>
            </a:pPr>
            <a:r>
              <a:rPr lang="en-US" sz="562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Used in Kubernetes, leader election, job scheduling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31460" y="457857"/>
            <a:ext cx="664375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Assigns tasks to nodes efficiently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Techniques: Task assignment, Load sharing, Load balancing</a:t>
            </a:r>
          </a:p>
          <a:p>
            <a:pPr algn="l" marL="107950" indent="-53975" lvl="1">
              <a:lnSpc>
                <a:spcPts val="700"/>
              </a:lnSpc>
              <a:buFont typeface="Arial"/>
              <a:buChar char="•"/>
            </a:pPr>
            <a:r>
              <a:rPr lang="en-US" sz="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Used in Kubernetes, NFV, batch processing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43004" y="357649"/>
            <a:ext cx="841286" cy="7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"/>
              </a:lnSpc>
            </a:pPr>
            <a:r>
              <a:rPr lang="en-US" sz="47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Scheduling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6220552">
            <a:off x="2072755" y="1488796"/>
            <a:ext cx="268900" cy="270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5072" y="824253"/>
            <a:ext cx="2357066" cy="2357066"/>
          </a:xfrm>
          <a:custGeom>
            <a:avLst/>
            <a:gdLst/>
            <a:ahLst/>
            <a:cxnLst/>
            <a:rect r="r" b="b" t="t" l="l"/>
            <a:pathLst>
              <a:path h="2357066" w="2357066">
                <a:moveTo>
                  <a:pt x="0" y="0"/>
                </a:moveTo>
                <a:lnTo>
                  <a:pt x="2357066" y="0"/>
                </a:lnTo>
                <a:lnTo>
                  <a:pt x="2357066" y="2357066"/>
                </a:lnTo>
                <a:lnTo>
                  <a:pt x="0" y="2357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18806" y="334455"/>
            <a:ext cx="163187" cy="540068"/>
            <a:chOff x="0" y="0"/>
            <a:chExt cx="24559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597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97">
                  <a:moveTo>
                    <a:pt x="0" y="0"/>
                  </a:moveTo>
                  <a:lnTo>
                    <a:pt x="245597" y="0"/>
                  </a:lnTo>
                  <a:lnTo>
                    <a:pt x="2455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E65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45597" cy="822325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51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870" y="763007"/>
            <a:ext cx="633754" cy="131185"/>
            <a:chOff x="0" y="0"/>
            <a:chExt cx="1521910" cy="315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1910" cy="315029"/>
            </a:xfrm>
            <a:custGeom>
              <a:avLst/>
              <a:gdLst/>
              <a:ahLst/>
              <a:cxnLst/>
              <a:rect r="r" b="b" t="t" l="l"/>
              <a:pathLst>
                <a:path h="315029" w="1521910">
                  <a:moveTo>
                    <a:pt x="109944" y="0"/>
                  </a:moveTo>
                  <a:lnTo>
                    <a:pt x="1411966" y="0"/>
                  </a:lnTo>
                  <a:cubicBezTo>
                    <a:pt x="1472687" y="0"/>
                    <a:pt x="1521910" y="49223"/>
                    <a:pt x="1521910" y="109944"/>
                  </a:cubicBezTo>
                  <a:lnTo>
                    <a:pt x="1521910" y="205086"/>
                  </a:lnTo>
                  <a:cubicBezTo>
                    <a:pt x="1521910" y="265806"/>
                    <a:pt x="1472687" y="315029"/>
                    <a:pt x="1411966" y="315029"/>
                  </a:cubicBezTo>
                  <a:lnTo>
                    <a:pt x="109944" y="315029"/>
                  </a:lnTo>
                  <a:cubicBezTo>
                    <a:pt x="49223" y="315029"/>
                    <a:pt x="0" y="265806"/>
                    <a:pt x="0" y="205086"/>
                  </a:cubicBezTo>
                  <a:lnTo>
                    <a:pt x="0" y="109944"/>
                  </a:lnTo>
                  <a:cubicBezTo>
                    <a:pt x="0" y="49223"/>
                    <a:pt x="49223" y="0"/>
                    <a:pt x="1099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EE65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521910" cy="324554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91991" y="379331"/>
            <a:ext cx="1103394" cy="1103394"/>
          </a:xfrm>
          <a:custGeom>
            <a:avLst/>
            <a:gdLst/>
            <a:ahLst/>
            <a:cxnLst/>
            <a:rect r="r" b="b" t="t" l="l"/>
            <a:pathLst>
              <a:path h="1103394" w="1103394">
                <a:moveTo>
                  <a:pt x="0" y="0"/>
                </a:moveTo>
                <a:lnTo>
                  <a:pt x="1103394" y="0"/>
                </a:lnTo>
                <a:lnTo>
                  <a:pt x="1103394" y="1103394"/>
                </a:lnTo>
                <a:lnTo>
                  <a:pt x="0" y="110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40675" y="428015"/>
            <a:ext cx="1006026" cy="1006026"/>
            <a:chOff x="0" y="0"/>
            <a:chExt cx="8909050" cy="890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EE65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6"/>
              <a:stretch>
                <a:fillRect l="-29643" t="0" r="-2964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870" y="865646"/>
            <a:ext cx="957088" cy="28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1190" indent="-55595" lvl="1">
              <a:lnSpc>
                <a:spcPts val="772"/>
              </a:lnSpc>
              <a:buFont typeface="Arial"/>
              <a:buChar char="•"/>
            </a:pPr>
            <a:r>
              <a:rPr lang="en-US" sz="515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 response time &amp; efficiency</a:t>
            </a:r>
          </a:p>
          <a:p>
            <a:pPr algn="just" marL="107950" indent="-53975" lvl="1">
              <a:lnSpc>
                <a:spcPts val="750"/>
              </a:lnSpc>
              <a:buFont typeface="Arial"/>
              <a:buChar char="•"/>
            </a:pPr>
            <a:r>
              <a:rPr lang="en-US" sz="5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Prevent server overload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807" y="788402"/>
            <a:ext cx="920088" cy="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"/>
              </a:lnSpc>
            </a:pPr>
            <a:r>
              <a:rPr lang="en-US" b="true" sz="502" spc="-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Load Balancing Algorithms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2985" y="49195"/>
            <a:ext cx="1676136" cy="1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"/>
              </a:lnSpc>
            </a:pPr>
            <a:r>
              <a:rPr lang="en-US" sz="6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LOAD BALANCING &amp; FAULT TOLERANCE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5072" y="824253"/>
            <a:ext cx="2357066" cy="2357066"/>
          </a:xfrm>
          <a:custGeom>
            <a:avLst/>
            <a:gdLst/>
            <a:ahLst/>
            <a:cxnLst/>
            <a:rect r="r" b="b" t="t" l="l"/>
            <a:pathLst>
              <a:path h="2357066" w="2357066">
                <a:moveTo>
                  <a:pt x="0" y="0"/>
                </a:moveTo>
                <a:lnTo>
                  <a:pt x="2357066" y="0"/>
                </a:lnTo>
                <a:lnTo>
                  <a:pt x="2357066" y="2357066"/>
                </a:lnTo>
                <a:lnTo>
                  <a:pt x="0" y="2357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455" y="1151111"/>
            <a:ext cx="490685" cy="131185"/>
            <a:chOff x="0" y="0"/>
            <a:chExt cx="1178340" cy="3150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340" cy="315029"/>
            </a:xfrm>
            <a:custGeom>
              <a:avLst/>
              <a:gdLst/>
              <a:ahLst/>
              <a:cxnLst/>
              <a:rect r="r" b="b" t="t" l="l"/>
              <a:pathLst>
                <a:path h="315029" w="1178340">
                  <a:moveTo>
                    <a:pt x="142000" y="0"/>
                  </a:moveTo>
                  <a:lnTo>
                    <a:pt x="1036340" y="0"/>
                  </a:lnTo>
                  <a:cubicBezTo>
                    <a:pt x="1074001" y="0"/>
                    <a:pt x="1110119" y="14961"/>
                    <a:pt x="1136749" y="41591"/>
                  </a:cubicBezTo>
                  <a:cubicBezTo>
                    <a:pt x="1163379" y="68221"/>
                    <a:pt x="1178340" y="104339"/>
                    <a:pt x="1178340" y="142000"/>
                  </a:cubicBezTo>
                  <a:lnTo>
                    <a:pt x="1178340" y="173029"/>
                  </a:lnTo>
                  <a:cubicBezTo>
                    <a:pt x="1178340" y="251454"/>
                    <a:pt x="1114765" y="315029"/>
                    <a:pt x="1036340" y="315029"/>
                  </a:cubicBezTo>
                  <a:lnTo>
                    <a:pt x="142000" y="315029"/>
                  </a:lnTo>
                  <a:cubicBezTo>
                    <a:pt x="63576" y="315029"/>
                    <a:pt x="0" y="251454"/>
                    <a:pt x="0" y="173029"/>
                  </a:cubicBezTo>
                  <a:lnTo>
                    <a:pt x="0" y="142000"/>
                  </a:lnTo>
                  <a:cubicBezTo>
                    <a:pt x="0" y="63576"/>
                    <a:pt x="63576" y="0"/>
                    <a:pt x="142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EE65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78340" cy="324554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118806" y="334455"/>
            <a:ext cx="163187" cy="540068"/>
            <a:chOff x="0" y="0"/>
            <a:chExt cx="24559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597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97">
                  <a:moveTo>
                    <a:pt x="0" y="0"/>
                  </a:moveTo>
                  <a:lnTo>
                    <a:pt x="245597" y="0"/>
                  </a:lnTo>
                  <a:lnTo>
                    <a:pt x="2455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E6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45597" cy="822325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51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870" y="724937"/>
            <a:ext cx="633754" cy="131185"/>
            <a:chOff x="0" y="0"/>
            <a:chExt cx="1521910" cy="315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1910" cy="315029"/>
            </a:xfrm>
            <a:custGeom>
              <a:avLst/>
              <a:gdLst/>
              <a:ahLst/>
              <a:cxnLst/>
              <a:rect r="r" b="b" t="t" l="l"/>
              <a:pathLst>
                <a:path h="315029" w="1521910">
                  <a:moveTo>
                    <a:pt x="109944" y="0"/>
                  </a:moveTo>
                  <a:lnTo>
                    <a:pt x="1411966" y="0"/>
                  </a:lnTo>
                  <a:cubicBezTo>
                    <a:pt x="1472687" y="0"/>
                    <a:pt x="1521910" y="49223"/>
                    <a:pt x="1521910" y="109944"/>
                  </a:cubicBezTo>
                  <a:lnTo>
                    <a:pt x="1521910" y="205086"/>
                  </a:lnTo>
                  <a:cubicBezTo>
                    <a:pt x="1521910" y="265806"/>
                    <a:pt x="1472687" y="315029"/>
                    <a:pt x="1411966" y="315029"/>
                  </a:cubicBezTo>
                  <a:lnTo>
                    <a:pt x="109944" y="315029"/>
                  </a:lnTo>
                  <a:cubicBezTo>
                    <a:pt x="49223" y="315029"/>
                    <a:pt x="0" y="265806"/>
                    <a:pt x="0" y="205086"/>
                  </a:cubicBezTo>
                  <a:lnTo>
                    <a:pt x="0" y="109944"/>
                  </a:lnTo>
                  <a:cubicBezTo>
                    <a:pt x="0" y="49223"/>
                    <a:pt x="49223" y="0"/>
                    <a:pt x="1099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EE65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521910" cy="324554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1991" y="379331"/>
            <a:ext cx="1103394" cy="1103394"/>
          </a:xfrm>
          <a:custGeom>
            <a:avLst/>
            <a:gdLst/>
            <a:ahLst/>
            <a:cxnLst/>
            <a:rect r="r" b="b" t="t" l="l"/>
            <a:pathLst>
              <a:path h="1103394" w="1103394">
                <a:moveTo>
                  <a:pt x="0" y="0"/>
                </a:moveTo>
                <a:lnTo>
                  <a:pt x="1103394" y="0"/>
                </a:lnTo>
                <a:lnTo>
                  <a:pt x="1103394" y="1103394"/>
                </a:lnTo>
                <a:lnTo>
                  <a:pt x="0" y="110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870" y="840172"/>
            <a:ext cx="957088" cy="28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1190" indent="-55595" lvl="1">
              <a:lnSpc>
                <a:spcPts val="772"/>
              </a:lnSpc>
              <a:buFont typeface="Arial"/>
              <a:buChar char="•"/>
            </a:pPr>
            <a:r>
              <a:rPr lang="en-US" sz="515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 response time &amp; efficiency</a:t>
            </a:r>
          </a:p>
          <a:p>
            <a:pPr algn="just" marL="107950" indent="-53975" lvl="1">
              <a:lnSpc>
                <a:spcPts val="750"/>
              </a:lnSpc>
              <a:buFont typeface="Arial"/>
              <a:buChar char="•"/>
            </a:pPr>
            <a:r>
              <a:rPr lang="en-US" sz="5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Prevent server overload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31" y="1180853"/>
            <a:ext cx="527060" cy="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"/>
              </a:lnSpc>
            </a:pPr>
            <a:r>
              <a:rPr lang="en-US" b="true" sz="502" spc="-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Main Types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931" y="1293569"/>
            <a:ext cx="1241906" cy="50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ound Robin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Least Connection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IP Hash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Weighted Round Robin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Least Response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853" y="752552"/>
            <a:ext cx="920088" cy="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"/>
              </a:lnSpc>
            </a:pPr>
            <a:r>
              <a:rPr lang="en-US" b="true" sz="502" spc="-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Load Balancing Algorithms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985" y="49195"/>
            <a:ext cx="1676136" cy="1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"/>
              </a:lnSpc>
            </a:pPr>
            <a:r>
              <a:rPr lang="en-US" sz="6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LOAD BALANCING &amp; FAULT TOLERANCE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140675" y="428015"/>
            <a:ext cx="1006026" cy="1006026"/>
            <a:chOff x="0" y="0"/>
            <a:chExt cx="8909050" cy="890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EE65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6"/>
              <a:stretch>
                <a:fillRect l="-29643" t="0" r="-29643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5072" y="824253"/>
            <a:ext cx="2357066" cy="2357066"/>
          </a:xfrm>
          <a:custGeom>
            <a:avLst/>
            <a:gdLst/>
            <a:ahLst/>
            <a:cxnLst/>
            <a:rect r="r" b="b" t="t" l="l"/>
            <a:pathLst>
              <a:path h="2357066" w="2357066">
                <a:moveTo>
                  <a:pt x="0" y="0"/>
                </a:moveTo>
                <a:lnTo>
                  <a:pt x="2357066" y="0"/>
                </a:lnTo>
                <a:lnTo>
                  <a:pt x="2357066" y="2357066"/>
                </a:lnTo>
                <a:lnTo>
                  <a:pt x="0" y="2357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455" y="1151111"/>
            <a:ext cx="490685" cy="131185"/>
            <a:chOff x="0" y="0"/>
            <a:chExt cx="1178340" cy="3150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8340" cy="315029"/>
            </a:xfrm>
            <a:custGeom>
              <a:avLst/>
              <a:gdLst/>
              <a:ahLst/>
              <a:cxnLst/>
              <a:rect r="r" b="b" t="t" l="l"/>
              <a:pathLst>
                <a:path h="315029" w="1178340">
                  <a:moveTo>
                    <a:pt x="142000" y="0"/>
                  </a:moveTo>
                  <a:lnTo>
                    <a:pt x="1036340" y="0"/>
                  </a:lnTo>
                  <a:cubicBezTo>
                    <a:pt x="1074001" y="0"/>
                    <a:pt x="1110119" y="14961"/>
                    <a:pt x="1136749" y="41591"/>
                  </a:cubicBezTo>
                  <a:cubicBezTo>
                    <a:pt x="1163379" y="68221"/>
                    <a:pt x="1178340" y="104339"/>
                    <a:pt x="1178340" y="142000"/>
                  </a:cubicBezTo>
                  <a:lnTo>
                    <a:pt x="1178340" y="173029"/>
                  </a:lnTo>
                  <a:cubicBezTo>
                    <a:pt x="1178340" y="251454"/>
                    <a:pt x="1114765" y="315029"/>
                    <a:pt x="1036340" y="315029"/>
                  </a:cubicBezTo>
                  <a:lnTo>
                    <a:pt x="142000" y="315029"/>
                  </a:lnTo>
                  <a:cubicBezTo>
                    <a:pt x="63576" y="315029"/>
                    <a:pt x="0" y="251454"/>
                    <a:pt x="0" y="173029"/>
                  </a:cubicBezTo>
                  <a:lnTo>
                    <a:pt x="0" y="142000"/>
                  </a:lnTo>
                  <a:cubicBezTo>
                    <a:pt x="0" y="63576"/>
                    <a:pt x="63576" y="0"/>
                    <a:pt x="142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EE65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78340" cy="324554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14410" y="728038"/>
            <a:ext cx="490685" cy="131185"/>
            <a:chOff x="0" y="0"/>
            <a:chExt cx="1178340" cy="315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340" cy="315029"/>
            </a:xfrm>
            <a:custGeom>
              <a:avLst/>
              <a:gdLst/>
              <a:ahLst/>
              <a:cxnLst/>
              <a:rect r="r" b="b" t="t" l="l"/>
              <a:pathLst>
                <a:path h="315029" w="1178340">
                  <a:moveTo>
                    <a:pt x="142000" y="0"/>
                  </a:moveTo>
                  <a:lnTo>
                    <a:pt x="1036340" y="0"/>
                  </a:lnTo>
                  <a:cubicBezTo>
                    <a:pt x="1074001" y="0"/>
                    <a:pt x="1110119" y="14961"/>
                    <a:pt x="1136749" y="41591"/>
                  </a:cubicBezTo>
                  <a:cubicBezTo>
                    <a:pt x="1163379" y="68221"/>
                    <a:pt x="1178340" y="104339"/>
                    <a:pt x="1178340" y="142000"/>
                  </a:cubicBezTo>
                  <a:lnTo>
                    <a:pt x="1178340" y="173029"/>
                  </a:lnTo>
                  <a:cubicBezTo>
                    <a:pt x="1178340" y="251454"/>
                    <a:pt x="1114765" y="315029"/>
                    <a:pt x="1036340" y="315029"/>
                  </a:cubicBezTo>
                  <a:lnTo>
                    <a:pt x="142000" y="315029"/>
                  </a:lnTo>
                  <a:cubicBezTo>
                    <a:pt x="63576" y="315029"/>
                    <a:pt x="0" y="251454"/>
                    <a:pt x="0" y="173029"/>
                  </a:cubicBezTo>
                  <a:lnTo>
                    <a:pt x="0" y="142000"/>
                  </a:lnTo>
                  <a:cubicBezTo>
                    <a:pt x="0" y="63576"/>
                    <a:pt x="63576" y="0"/>
                    <a:pt x="142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EE65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78340" cy="324554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18806" y="334455"/>
            <a:ext cx="163187" cy="540068"/>
            <a:chOff x="0" y="0"/>
            <a:chExt cx="24559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5597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97">
                  <a:moveTo>
                    <a:pt x="0" y="0"/>
                  </a:moveTo>
                  <a:lnTo>
                    <a:pt x="245597" y="0"/>
                  </a:lnTo>
                  <a:lnTo>
                    <a:pt x="2455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E65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45597" cy="822325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51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130" y="589065"/>
            <a:ext cx="633754" cy="131185"/>
            <a:chOff x="0" y="0"/>
            <a:chExt cx="1521910" cy="3150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1910" cy="315029"/>
            </a:xfrm>
            <a:custGeom>
              <a:avLst/>
              <a:gdLst/>
              <a:ahLst/>
              <a:cxnLst/>
              <a:rect r="r" b="b" t="t" l="l"/>
              <a:pathLst>
                <a:path h="315029" w="1521910">
                  <a:moveTo>
                    <a:pt x="109944" y="0"/>
                  </a:moveTo>
                  <a:lnTo>
                    <a:pt x="1411966" y="0"/>
                  </a:lnTo>
                  <a:cubicBezTo>
                    <a:pt x="1472687" y="0"/>
                    <a:pt x="1521910" y="49223"/>
                    <a:pt x="1521910" y="109944"/>
                  </a:cubicBezTo>
                  <a:lnTo>
                    <a:pt x="1521910" y="205086"/>
                  </a:lnTo>
                  <a:cubicBezTo>
                    <a:pt x="1521910" y="265806"/>
                    <a:pt x="1472687" y="315029"/>
                    <a:pt x="1411966" y="315029"/>
                  </a:cubicBezTo>
                  <a:lnTo>
                    <a:pt x="109944" y="315029"/>
                  </a:lnTo>
                  <a:cubicBezTo>
                    <a:pt x="49223" y="315029"/>
                    <a:pt x="0" y="265806"/>
                    <a:pt x="0" y="205086"/>
                  </a:cubicBezTo>
                  <a:lnTo>
                    <a:pt x="0" y="109944"/>
                  </a:lnTo>
                  <a:cubicBezTo>
                    <a:pt x="0" y="49223"/>
                    <a:pt x="49223" y="0"/>
                    <a:pt x="1099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EE65E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521910" cy="324554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91991" y="379331"/>
            <a:ext cx="1103394" cy="1103394"/>
          </a:xfrm>
          <a:custGeom>
            <a:avLst/>
            <a:gdLst/>
            <a:ahLst/>
            <a:cxnLst/>
            <a:rect r="r" b="b" t="t" l="l"/>
            <a:pathLst>
              <a:path h="1103394" w="1103394">
                <a:moveTo>
                  <a:pt x="0" y="0"/>
                </a:moveTo>
                <a:lnTo>
                  <a:pt x="1103394" y="0"/>
                </a:lnTo>
                <a:lnTo>
                  <a:pt x="1103394" y="1103394"/>
                </a:lnTo>
                <a:lnTo>
                  <a:pt x="0" y="1103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931" y="762142"/>
            <a:ext cx="957088" cy="28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1190" indent="-55595" lvl="1">
              <a:lnSpc>
                <a:spcPts val="772"/>
              </a:lnSpc>
              <a:buFont typeface="Arial"/>
              <a:buChar char="•"/>
            </a:pPr>
            <a:r>
              <a:rPr lang="en-US" sz="515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 response time &amp; efficiency</a:t>
            </a:r>
          </a:p>
          <a:p>
            <a:pPr algn="just" marL="107950" indent="-53975" lvl="1">
              <a:lnSpc>
                <a:spcPts val="750"/>
              </a:lnSpc>
              <a:buFont typeface="Arial"/>
              <a:buChar char="•"/>
            </a:pPr>
            <a:r>
              <a:rPr lang="en-US" sz="500" spc="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Prevent server overload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931" y="1180853"/>
            <a:ext cx="527060" cy="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"/>
              </a:lnSpc>
            </a:pPr>
            <a:r>
              <a:rPr lang="en-US" b="true" sz="502" spc="-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Main Types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931" y="1293569"/>
            <a:ext cx="1241906" cy="50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ound Robin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Least Connection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IP Hash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Weighted Round Robin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FFFFFF">
                    <a:alpha val="9764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Least Response 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14410" y="752552"/>
            <a:ext cx="904397" cy="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"/>
              </a:lnSpc>
            </a:pPr>
            <a:r>
              <a:rPr lang="en-US" b="true" sz="502" spc="-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Fault Tolerance Techniques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55808" y="897119"/>
            <a:ext cx="862998" cy="70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Replication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Voting &amp; quorum systems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Consensus-based recovery</a:t>
            </a:r>
          </a:p>
          <a:p>
            <a:pPr algn="just" marL="107950" indent="-53975" lvl="1">
              <a:lnSpc>
                <a:spcPts val="800"/>
              </a:lnSpc>
              <a:buFont typeface="Arial"/>
              <a:buChar char="•"/>
            </a:pPr>
            <a:r>
              <a:rPr lang="en-US" sz="50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Distributed commit (ACID)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947" y="604489"/>
            <a:ext cx="920088" cy="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"/>
              </a:lnSpc>
            </a:pPr>
            <a:r>
              <a:rPr lang="en-US" b="true" sz="502" spc="-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Load Balancing Algorithms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2985" y="49195"/>
            <a:ext cx="1676136" cy="10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"/>
              </a:lnSpc>
            </a:pPr>
            <a:r>
              <a:rPr lang="en-US" sz="6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LOAD BALANCING &amp; FAULT TOLERANCE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140675" y="428015"/>
            <a:ext cx="1006026" cy="1006026"/>
            <a:chOff x="0" y="0"/>
            <a:chExt cx="8909050" cy="890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10398" y="9480"/>
              <a:ext cx="8929847" cy="8890089"/>
            </a:xfrm>
            <a:custGeom>
              <a:avLst/>
              <a:gdLst/>
              <a:ahLst/>
              <a:cxnLst/>
              <a:rect r="r" b="b" t="t" l="l"/>
              <a:pathLst>
                <a:path h="8890089" w="8929847">
                  <a:moveTo>
                    <a:pt x="4464923" y="45"/>
                  </a:moveTo>
                  <a:cubicBezTo>
                    <a:pt x="2872142" y="-7078"/>
                    <a:pt x="1397294" y="838573"/>
                    <a:pt x="598840" y="2216787"/>
                  </a:cubicBezTo>
                  <a:cubicBezTo>
                    <a:pt x="-199614" y="3595001"/>
                    <a:pt x="-199614" y="5295089"/>
                    <a:pt x="598840" y="6673304"/>
                  </a:cubicBezTo>
                  <a:cubicBezTo>
                    <a:pt x="1397294" y="8051517"/>
                    <a:pt x="2872142" y="8897168"/>
                    <a:pt x="4464923" y="8890045"/>
                  </a:cubicBezTo>
                  <a:cubicBezTo>
                    <a:pt x="6057704" y="8897168"/>
                    <a:pt x="7532552" y="8051517"/>
                    <a:pt x="8331006" y="6673304"/>
                  </a:cubicBezTo>
                  <a:cubicBezTo>
                    <a:pt x="9129460" y="5295089"/>
                    <a:pt x="9129460" y="3595001"/>
                    <a:pt x="8331006" y="2216787"/>
                  </a:cubicBezTo>
                  <a:cubicBezTo>
                    <a:pt x="7532552" y="838573"/>
                    <a:pt x="6057704" y="-7078"/>
                    <a:pt x="4464923" y="45"/>
                  </a:cubicBezTo>
                  <a:close/>
                </a:path>
              </a:pathLst>
            </a:custGeom>
            <a:solidFill>
              <a:srgbClr val="0EE65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1757" y="270468"/>
              <a:ext cx="8405537" cy="8368114"/>
            </a:xfrm>
            <a:custGeom>
              <a:avLst/>
              <a:gdLst/>
              <a:ahLst/>
              <a:cxnLst/>
              <a:rect r="r" b="b" t="t" l="l"/>
              <a:pathLst>
                <a:path h="8368114" w="8405537">
                  <a:moveTo>
                    <a:pt x="4202768" y="42"/>
                  </a:moveTo>
                  <a:cubicBezTo>
                    <a:pt x="2703506" y="-6663"/>
                    <a:pt x="1315253" y="789336"/>
                    <a:pt x="563679" y="2086629"/>
                  </a:cubicBezTo>
                  <a:cubicBezTo>
                    <a:pt x="-187894" y="3383923"/>
                    <a:pt x="-187894" y="4984191"/>
                    <a:pt x="563679" y="6281485"/>
                  </a:cubicBezTo>
                  <a:cubicBezTo>
                    <a:pt x="1315253" y="7578778"/>
                    <a:pt x="2703506" y="8374777"/>
                    <a:pt x="4202768" y="8368072"/>
                  </a:cubicBezTo>
                  <a:cubicBezTo>
                    <a:pt x="5702030" y="8374777"/>
                    <a:pt x="7090283" y="7578778"/>
                    <a:pt x="7841857" y="6281485"/>
                  </a:cubicBezTo>
                  <a:cubicBezTo>
                    <a:pt x="8593429" y="4984191"/>
                    <a:pt x="8593429" y="3383923"/>
                    <a:pt x="7841857" y="2086629"/>
                  </a:cubicBezTo>
                  <a:cubicBezTo>
                    <a:pt x="7090283" y="789336"/>
                    <a:pt x="5702030" y="-6663"/>
                    <a:pt x="4202768" y="42"/>
                  </a:cubicBezTo>
                  <a:close/>
                </a:path>
              </a:pathLst>
            </a:custGeom>
            <a:blipFill>
              <a:blip r:embed="rId6"/>
              <a:stretch>
                <a:fillRect l="-29643" t="0" r="-29643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09050" cy="8909050"/>
            </a:xfrm>
            <a:custGeom>
              <a:avLst/>
              <a:gdLst/>
              <a:ahLst/>
              <a:cxnLst/>
              <a:rect r="r" b="b" t="t" l="l"/>
              <a:pathLst>
                <a:path h="8909050" w="8909050">
                  <a:moveTo>
                    <a:pt x="4454525" y="8909050"/>
                  </a:moveTo>
                  <a:cubicBezTo>
                    <a:pt x="3264662" y="8909050"/>
                    <a:pt x="2146046" y="8445500"/>
                    <a:pt x="1304544" y="7603744"/>
                  </a:cubicBezTo>
                  <a:cubicBezTo>
                    <a:pt x="895477" y="7194550"/>
                    <a:pt x="574294" y="6718173"/>
                    <a:pt x="350012" y="6187694"/>
                  </a:cubicBezTo>
                  <a:cubicBezTo>
                    <a:pt x="117729" y="5638673"/>
                    <a:pt x="0" y="5055489"/>
                    <a:pt x="0" y="4454525"/>
                  </a:cubicBezTo>
                  <a:cubicBezTo>
                    <a:pt x="0" y="3854704"/>
                    <a:pt x="117475" y="3272282"/>
                    <a:pt x="349377" y="2723642"/>
                  </a:cubicBezTo>
                  <a:cubicBezTo>
                    <a:pt x="573405" y="2193163"/>
                    <a:pt x="894207" y="1716786"/>
                    <a:pt x="1302766" y="1307338"/>
                  </a:cubicBezTo>
                  <a:cubicBezTo>
                    <a:pt x="2144141" y="464312"/>
                    <a:pt x="3263519" y="0"/>
                    <a:pt x="4454525" y="0"/>
                  </a:cubicBezTo>
                  <a:cubicBezTo>
                    <a:pt x="5055362" y="0"/>
                    <a:pt x="5638419" y="117729"/>
                    <a:pt x="6187440" y="350012"/>
                  </a:cubicBezTo>
                  <a:cubicBezTo>
                    <a:pt x="6717792" y="574294"/>
                    <a:pt x="7194296" y="895477"/>
                    <a:pt x="7603490" y="1304544"/>
                  </a:cubicBezTo>
                  <a:cubicBezTo>
                    <a:pt x="8445373" y="2146046"/>
                    <a:pt x="8909050" y="3264789"/>
                    <a:pt x="8909050" y="4454652"/>
                  </a:cubicBezTo>
                  <a:cubicBezTo>
                    <a:pt x="8909050" y="5644769"/>
                    <a:pt x="8445246" y="6763766"/>
                    <a:pt x="7602982" y="7605268"/>
                  </a:cubicBezTo>
                  <a:cubicBezTo>
                    <a:pt x="7193789" y="8014208"/>
                    <a:pt x="6717285" y="8335138"/>
                    <a:pt x="6186932" y="8559419"/>
                  </a:cubicBezTo>
                  <a:cubicBezTo>
                    <a:pt x="5637911" y="8791321"/>
                    <a:pt x="5055108" y="8909050"/>
                    <a:pt x="4454525" y="8909050"/>
                  </a:cubicBezTo>
                  <a:close/>
                  <a:moveTo>
                    <a:pt x="4454525" y="19050"/>
                  </a:moveTo>
                  <a:cubicBezTo>
                    <a:pt x="3268599" y="19050"/>
                    <a:pt x="2154047" y="481330"/>
                    <a:pt x="1316228" y="1320800"/>
                  </a:cubicBezTo>
                  <a:cubicBezTo>
                    <a:pt x="909447" y="1728343"/>
                    <a:pt x="590042" y="2202815"/>
                    <a:pt x="366903" y="2731008"/>
                  </a:cubicBezTo>
                  <a:cubicBezTo>
                    <a:pt x="136017" y="3277362"/>
                    <a:pt x="19050" y="3857244"/>
                    <a:pt x="19050" y="4454525"/>
                  </a:cubicBezTo>
                  <a:cubicBezTo>
                    <a:pt x="19050" y="5052949"/>
                    <a:pt x="136271" y="5633593"/>
                    <a:pt x="367538" y="6180328"/>
                  </a:cubicBezTo>
                  <a:cubicBezTo>
                    <a:pt x="590931" y="6708522"/>
                    <a:pt x="910717" y="7182866"/>
                    <a:pt x="1318006" y="7590282"/>
                  </a:cubicBezTo>
                  <a:cubicBezTo>
                    <a:pt x="2155825" y="8428355"/>
                    <a:pt x="3269742" y="8890000"/>
                    <a:pt x="4454525" y="8890000"/>
                  </a:cubicBezTo>
                  <a:cubicBezTo>
                    <a:pt x="5052568" y="8890000"/>
                    <a:pt x="5632958" y="8772779"/>
                    <a:pt x="6179439" y="8541766"/>
                  </a:cubicBezTo>
                  <a:cubicBezTo>
                    <a:pt x="6707632" y="8318500"/>
                    <a:pt x="7181977" y="7998841"/>
                    <a:pt x="7589520" y="7591679"/>
                  </a:cubicBezTo>
                  <a:cubicBezTo>
                    <a:pt x="8428101" y="6753733"/>
                    <a:pt x="8890000" y="5639562"/>
                    <a:pt x="8890000" y="4454525"/>
                  </a:cubicBezTo>
                  <a:cubicBezTo>
                    <a:pt x="8890000" y="3269742"/>
                    <a:pt x="8428355" y="2155825"/>
                    <a:pt x="7590028" y="1317879"/>
                  </a:cubicBezTo>
                  <a:cubicBezTo>
                    <a:pt x="7182612" y="910590"/>
                    <a:pt x="6708140" y="590931"/>
                    <a:pt x="6180074" y="367538"/>
                  </a:cubicBezTo>
                  <a:cubicBezTo>
                    <a:pt x="5633339" y="136271"/>
                    <a:pt x="5052822" y="19050"/>
                    <a:pt x="4454525" y="19050"/>
                  </a:cubicBezTo>
                  <a:close/>
                  <a:moveTo>
                    <a:pt x="4454525" y="8648065"/>
                  </a:moveTo>
                  <a:cubicBezTo>
                    <a:pt x="3334385" y="8648065"/>
                    <a:pt x="2281301" y="8211693"/>
                    <a:pt x="1489075" y="7419213"/>
                  </a:cubicBezTo>
                  <a:cubicBezTo>
                    <a:pt x="697103" y="6626987"/>
                    <a:pt x="260985" y="5574157"/>
                    <a:pt x="260985" y="4454525"/>
                  </a:cubicBezTo>
                  <a:cubicBezTo>
                    <a:pt x="260985" y="3889756"/>
                    <a:pt x="371602" y="3341497"/>
                    <a:pt x="589788" y="2824988"/>
                  </a:cubicBezTo>
                  <a:cubicBezTo>
                    <a:pt x="800735" y="2325624"/>
                    <a:pt x="1102741" y="1877060"/>
                    <a:pt x="1487297" y="1491742"/>
                  </a:cubicBezTo>
                  <a:cubicBezTo>
                    <a:pt x="2279396" y="698119"/>
                    <a:pt x="3333242" y="260985"/>
                    <a:pt x="4454398" y="260985"/>
                  </a:cubicBezTo>
                  <a:cubicBezTo>
                    <a:pt x="5573776" y="260985"/>
                    <a:pt x="6626606" y="697103"/>
                    <a:pt x="7418832" y="1488948"/>
                  </a:cubicBezTo>
                  <a:cubicBezTo>
                    <a:pt x="8211438" y="2281174"/>
                    <a:pt x="8647937" y="3334385"/>
                    <a:pt x="8647937" y="4454398"/>
                  </a:cubicBezTo>
                  <a:cubicBezTo>
                    <a:pt x="8647937" y="5574792"/>
                    <a:pt x="8211311" y="6628130"/>
                    <a:pt x="7418450" y="7420356"/>
                  </a:cubicBezTo>
                  <a:cubicBezTo>
                    <a:pt x="6626225" y="8212074"/>
                    <a:pt x="5573522" y="8648065"/>
                    <a:pt x="4454525" y="8648065"/>
                  </a:cubicBezTo>
                  <a:close/>
                  <a:moveTo>
                    <a:pt x="4454525" y="280035"/>
                  </a:moveTo>
                  <a:cubicBezTo>
                    <a:pt x="3338449" y="280035"/>
                    <a:pt x="2289429" y="715137"/>
                    <a:pt x="1500886" y="1505204"/>
                  </a:cubicBezTo>
                  <a:cubicBezTo>
                    <a:pt x="713613" y="2294001"/>
                    <a:pt x="280035" y="3341370"/>
                    <a:pt x="280035" y="4454525"/>
                  </a:cubicBezTo>
                  <a:cubicBezTo>
                    <a:pt x="280035" y="5569077"/>
                    <a:pt x="714248" y="6617081"/>
                    <a:pt x="1502537" y="7405751"/>
                  </a:cubicBezTo>
                  <a:cubicBezTo>
                    <a:pt x="2291080" y="8194548"/>
                    <a:pt x="3339465" y="8629015"/>
                    <a:pt x="4454525" y="8629015"/>
                  </a:cubicBezTo>
                  <a:cubicBezTo>
                    <a:pt x="5568442" y="8629015"/>
                    <a:pt x="6616319" y="8195056"/>
                    <a:pt x="7405116" y="7407021"/>
                  </a:cubicBezTo>
                  <a:cubicBezTo>
                    <a:pt x="8194422" y="6618477"/>
                    <a:pt x="8629015" y="5569839"/>
                    <a:pt x="8629015" y="4454525"/>
                  </a:cubicBezTo>
                  <a:cubicBezTo>
                    <a:pt x="8629015" y="3339465"/>
                    <a:pt x="8194548" y="2291080"/>
                    <a:pt x="7405497" y="1502537"/>
                  </a:cubicBezTo>
                  <a:cubicBezTo>
                    <a:pt x="6616827" y="714121"/>
                    <a:pt x="5568823" y="280035"/>
                    <a:pt x="4454525" y="280035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5481" y="-325754"/>
            <a:ext cx="1240154" cy="1240154"/>
          </a:xfrm>
          <a:custGeom>
            <a:avLst/>
            <a:gdLst/>
            <a:ahLst/>
            <a:cxnLst/>
            <a:rect r="r" b="b" t="t" l="l"/>
            <a:pathLst>
              <a:path h="1240154" w="1240154">
                <a:moveTo>
                  <a:pt x="0" y="0"/>
                </a:moveTo>
                <a:lnTo>
                  <a:pt x="1240154" y="0"/>
                </a:lnTo>
                <a:lnTo>
                  <a:pt x="1240154" y="1240154"/>
                </a:lnTo>
                <a:lnTo>
                  <a:pt x="0" y="12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6461">
            <a:off x="2625859" y="906325"/>
            <a:ext cx="1149082" cy="1149082"/>
          </a:xfrm>
          <a:custGeom>
            <a:avLst/>
            <a:gdLst/>
            <a:ahLst/>
            <a:cxnLst/>
            <a:rect r="r" b="b" t="t" l="l"/>
            <a:pathLst>
              <a:path h="1149082" w="1149082">
                <a:moveTo>
                  <a:pt x="0" y="0"/>
                </a:moveTo>
                <a:lnTo>
                  <a:pt x="1149082" y="0"/>
                </a:lnTo>
                <a:lnTo>
                  <a:pt x="1149082" y="1149082"/>
                </a:lnTo>
                <a:lnTo>
                  <a:pt x="0" y="11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07391" y="527396"/>
            <a:ext cx="1620897" cy="1301404"/>
            <a:chOff x="0" y="0"/>
            <a:chExt cx="7467600" cy="5995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228288" y="55502"/>
            <a:ext cx="792089" cy="49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"/>
              </a:lnSpc>
            </a:pPr>
            <a:r>
              <a:rPr lang="en-US" sz="544" b="true">
                <a:solidFill>
                  <a:srgbClr val="01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Distributed Query Processing</a:t>
            </a:r>
          </a:p>
          <a:p>
            <a:pPr algn="l">
              <a:lnSpc>
                <a:spcPts val="630"/>
              </a:lnSpc>
            </a:pPr>
            <a:r>
              <a:rPr lang="en-US" sz="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Parallel query execution</a:t>
            </a:r>
          </a:p>
          <a:p>
            <a:pPr algn="l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Data partitioning</a:t>
            </a:r>
          </a:p>
          <a:p>
            <a:pPr algn="l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Replica-aware routing</a:t>
            </a:r>
          </a:p>
          <a:p>
            <a:pPr algn="l" marL="0" indent="0" lvl="0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Distributed joins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596" y="89392"/>
            <a:ext cx="1604705" cy="21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"/>
              </a:lnSpc>
            </a:pPr>
            <a:r>
              <a:rPr lang="en-US" sz="6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PROCESSING, PARTITIONING &amp; SEARCH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5481" y="-325754"/>
            <a:ext cx="1240154" cy="1240154"/>
          </a:xfrm>
          <a:custGeom>
            <a:avLst/>
            <a:gdLst/>
            <a:ahLst/>
            <a:cxnLst/>
            <a:rect r="r" b="b" t="t" l="l"/>
            <a:pathLst>
              <a:path h="1240154" w="1240154">
                <a:moveTo>
                  <a:pt x="0" y="0"/>
                </a:moveTo>
                <a:lnTo>
                  <a:pt x="1240154" y="0"/>
                </a:lnTo>
                <a:lnTo>
                  <a:pt x="1240154" y="1240154"/>
                </a:lnTo>
                <a:lnTo>
                  <a:pt x="0" y="12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6461">
            <a:off x="2625859" y="906325"/>
            <a:ext cx="1149082" cy="1149082"/>
          </a:xfrm>
          <a:custGeom>
            <a:avLst/>
            <a:gdLst/>
            <a:ahLst/>
            <a:cxnLst/>
            <a:rect r="r" b="b" t="t" l="l"/>
            <a:pathLst>
              <a:path h="1149082" w="1149082">
                <a:moveTo>
                  <a:pt x="0" y="0"/>
                </a:moveTo>
                <a:lnTo>
                  <a:pt x="1149082" y="0"/>
                </a:lnTo>
                <a:lnTo>
                  <a:pt x="1149082" y="1149082"/>
                </a:lnTo>
                <a:lnTo>
                  <a:pt x="0" y="11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141" y="379653"/>
            <a:ext cx="814808" cy="64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01FFFF"/>
                </a:solidFill>
                <a:latin typeface="DM Sans"/>
                <a:ea typeface="DM Sans"/>
                <a:cs typeface="DM Sans"/>
                <a:sym typeface="DM Sans"/>
              </a:rPr>
              <a:t>Data Part</a:t>
            </a:r>
            <a:r>
              <a:rPr lang="en-US" sz="499">
                <a:solidFill>
                  <a:srgbClr val="01FFFF"/>
                </a:solidFill>
                <a:latin typeface="DM Sans"/>
                <a:ea typeface="DM Sans"/>
                <a:cs typeface="DM Sans"/>
                <a:sym typeface="DM Sans"/>
              </a:rPr>
              <a:t>itioning &amp; Sharding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Horizontal (rows) &amp; Vertical (columns)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Improves: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○ Performance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○ Scalability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○ Fault tolerance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65374" y="654239"/>
            <a:ext cx="1462914" cy="1174561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28288" y="55502"/>
            <a:ext cx="792089" cy="49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"/>
              </a:lnSpc>
            </a:pPr>
            <a:r>
              <a:rPr lang="en-US" sz="544" b="true">
                <a:solidFill>
                  <a:srgbClr val="01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Distributed Query Processing</a:t>
            </a:r>
          </a:p>
          <a:p>
            <a:pPr algn="l">
              <a:lnSpc>
                <a:spcPts val="630"/>
              </a:lnSpc>
            </a:pPr>
            <a:r>
              <a:rPr lang="en-US" sz="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Parallel query execution</a:t>
            </a:r>
          </a:p>
          <a:p>
            <a:pPr algn="l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Data partitioning</a:t>
            </a:r>
          </a:p>
          <a:p>
            <a:pPr algn="l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Replica-aware routing</a:t>
            </a:r>
          </a:p>
          <a:p>
            <a:pPr algn="l" marL="0" indent="0" lvl="0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Distributed joins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96" y="89392"/>
            <a:ext cx="1604705" cy="21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"/>
              </a:lnSpc>
            </a:pPr>
            <a:r>
              <a:rPr lang="en-US" sz="6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PROCESSING, PARTITIONING &amp; SEARCH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5481" y="-325754"/>
            <a:ext cx="1240154" cy="1240154"/>
          </a:xfrm>
          <a:custGeom>
            <a:avLst/>
            <a:gdLst/>
            <a:ahLst/>
            <a:cxnLst/>
            <a:rect r="r" b="b" t="t" l="l"/>
            <a:pathLst>
              <a:path h="1240154" w="1240154">
                <a:moveTo>
                  <a:pt x="0" y="0"/>
                </a:moveTo>
                <a:lnTo>
                  <a:pt x="1240154" y="0"/>
                </a:lnTo>
                <a:lnTo>
                  <a:pt x="1240154" y="1240154"/>
                </a:lnTo>
                <a:lnTo>
                  <a:pt x="0" y="124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6461">
            <a:off x="2625859" y="906325"/>
            <a:ext cx="1149082" cy="1149082"/>
          </a:xfrm>
          <a:custGeom>
            <a:avLst/>
            <a:gdLst/>
            <a:ahLst/>
            <a:cxnLst/>
            <a:rect r="r" b="b" t="t" l="l"/>
            <a:pathLst>
              <a:path h="1149082" w="1149082">
                <a:moveTo>
                  <a:pt x="0" y="0"/>
                </a:moveTo>
                <a:lnTo>
                  <a:pt x="1149082" y="0"/>
                </a:lnTo>
                <a:lnTo>
                  <a:pt x="1149082" y="1149082"/>
                </a:lnTo>
                <a:lnTo>
                  <a:pt x="0" y="1149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141" y="379653"/>
            <a:ext cx="814808" cy="64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01FFFF"/>
                </a:solidFill>
                <a:latin typeface="DM Sans"/>
                <a:ea typeface="DM Sans"/>
                <a:cs typeface="DM Sans"/>
                <a:sym typeface="DM Sans"/>
              </a:rPr>
              <a:t>Data Part</a:t>
            </a:r>
            <a:r>
              <a:rPr lang="en-US" sz="499">
                <a:solidFill>
                  <a:srgbClr val="01FFFF"/>
                </a:solidFill>
                <a:latin typeface="DM Sans"/>
                <a:ea typeface="DM Sans"/>
                <a:cs typeface="DM Sans"/>
                <a:sym typeface="DM Sans"/>
              </a:rPr>
              <a:t>itioning &amp; Sharding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Horizontal (rows) &amp; Vertical (columns)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Improves: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○ Performance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○ Scalability</a:t>
            </a:r>
          </a:p>
          <a:p>
            <a:pPr algn="l" marL="0" indent="0" lvl="0">
              <a:lnSpc>
                <a:spcPts val="629"/>
              </a:lnSpc>
            </a:pPr>
            <a:r>
              <a:rPr lang="en-US" sz="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○ Fault tolerance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" y="1170801"/>
            <a:ext cx="792089" cy="4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"/>
              </a:lnSpc>
            </a:pPr>
            <a:r>
              <a:rPr lang="en-US" sz="500" b="true">
                <a:solidFill>
                  <a:srgbClr val="01FFFF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Applications</a:t>
            </a:r>
          </a:p>
          <a:p>
            <a:pPr algn="l">
              <a:lnSpc>
                <a:spcPts val="630"/>
              </a:lnSpc>
            </a:pPr>
            <a:r>
              <a:rPr lang="en-US" sz="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● E-commerce</a:t>
            </a:r>
          </a:p>
          <a:p>
            <a:pPr algn="l">
              <a:lnSpc>
                <a:spcPts val="630"/>
              </a:lnSpc>
            </a:pPr>
            <a:r>
              <a:rPr lang="en-US" sz="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● Social media</a:t>
            </a:r>
          </a:p>
          <a:p>
            <a:pPr algn="l">
              <a:lnSpc>
                <a:spcPts val="630"/>
              </a:lnSpc>
            </a:pPr>
            <a:r>
              <a:rPr lang="en-US" sz="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● Banking</a:t>
            </a:r>
          </a:p>
          <a:p>
            <a:pPr algn="l" marL="0" indent="0" lvl="0">
              <a:lnSpc>
                <a:spcPts val="630"/>
              </a:lnSpc>
            </a:pPr>
            <a:r>
              <a:rPr lang="en-US" b="true" sz="5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● IoT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97283" y="660376"/>
            <a:ext cx="1488482" cy="1195089"/>
            <a:chOff x="0" y="0"/>
            <a:chExt cx="7467600" cy="599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28288" y="55502"/>
            <a:ext cx="792089" cy="49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"/>
              </a:lnSpc>
            </a:pPr>
            <a:r>
              <a:rPr lang="en-US" sz="544" b="true">
                <a:solidFill>
                  <a:srgbClr val="01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Distributed Query Processing</a:t>
            </a:r>
          </a:p>
          <a:p>
            <a:pPr algn="l">
              <a:lnSpc>
                <a:spcPts val="630"/>
              </a:lnSpc>
            </a:pPr>
            <a:r>
              <a:rPr lang="en-US" sz="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Parallel query execution</a:t>
            </a:r>
          </a:p>
          <a:p>
            <a:pPr algn="l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Data partitioning</a:t>
            </a:r>
          </a:p>
          <a:p>
            <a:pPr algn="l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Replica-aware routing</a:t>
            </a:r>
          </a:p>
          <a:p>
            <a:pPr algn="l" marL="0" indent="0" lvl="0">
              <a:lnSpc>
                <a:spcPts val="686"/>
              </a:lnSpc>
            </a:pPr>
            <a:r>
              <a:rPr lang="en-US" sz="54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● Distributed joins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596" y="89392"/>
            <a:ext cx="1604705" cy="21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7"/>
              </a:lnSpc>
            </a:pPr>
            <a:r>
              <a:rPr lang="en-US" sz="6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PROCESSING, PARTITIONING &amp; SEARCH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6642" y="-607979"/>
            <a:ext cx="1751570" cy="1440180"/>
          </a:xfrm>
          <a:custGeom>
            <a:avLst/>
            <a:gdLst/>
            <a:ahLst/>
            <a:cxnLst/>
            <a:rect r="r" b="b" t="t" l="l"/>
            <a:pathLst>
              <a:path h="1440180" w="1751570">
                <a:moveTo>
                  <a:pt x="0" y="0"/>
                </a:moveTo>
                <a:lnTo>
                  <a:pt x="1751571" y="0"/>
                </a:lnTo>
                <a:lnTo>
                  <a:pt x="175157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4287"/>
            <a:ext cx="1680854" cy="1799368"/>
            <a:chOff x="0" y="0"/>
            <a:chExt cx="10388632" cy="11121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8631" cy="11121120"/>
            </a:xfrm>
            <a:custGeom>
              <a:avLst/>
              <a:gdLst/>
              <a:ahLst/>
              <a:cxnLst/>
              <a:rect r="r" b="b" t="t" l="l"/>
              <a:pathLst>
                <a:path h="11121120" w="10388631">
                  <a:moveTo>
                    <a:pt x="10388631" y="824"/>
                  </a:moveTo>
                  <a:cubicBezTo>
                    <a:pt x="10383713" y="22105"/>
                    <a:pt x="10379258" y="43386"/>
                    <a:pt x="10373879" y="64530"/>
                  </a:cubicBezTo>
                  <a:cubicBezTo>
                    <a:pt x="10258475" y="524889"/>
                    <a:pt x="10142915" y="985111"/>
                    <a:pt x="10027510" y="1445471"/>
                  </a:cubicBezTo>
                  <a:cubicBezTo>
                    <a:pt x="9856937" y="2126193"/>
                    <a:pt x="9686826" y="2806916"/>
                    <a:pt x="9516099" y="3487501"/>
                  </a:cubicBezTo>
                  <a:cubicBezTo>
                    <a:pt x="9306341" y="4323369"/>
                    <a:pt x="9095969" y="5159101"/>
                    <a:pt x="8886210" y="5994970"/>
                  </a:cubicBezTo>
                  <a:cubicBezTo>
                    <a:pt x="8705496" y="6715096"/>
                    <a:pt x="8525088" y="7435223"/>
                    <a:pt x="8344528" y="8155487"/>
                  </a:cubicBezTo>
                  <a:cubicBezTo>
                    <a:pt x="8185941" y="8788156"/>
                    <a:pt x="8027662" y="9420687"/>
                    <a:pt x="7868769" y="10053218"/>
                  </a:cubicBezTo>
                  <a:cubicBezTo>
                    <a:pt x="7779487" y="10408956"/>
                    <a:pt x="7689438" y="10764558"/>
                    <a:pt x="7599695" y="11120296"/>
                  </a:cubicBezTo>
                  <a:cubicBezTo>
                    <a:pt x="5081215" y="11120296"/>
                    <a:pt x="2562889" y="11120158"/>
                    <a:pt x="44564" y="11121120"/>
                  </a:cubicBezTo>
                  <a:cubicBezTo>
                    <a:pt x="8144" y="11121120"/>
                    <a:pt x="0" y="11113843"/>
                    <a:pt x="0" y="11081166"/>
                  </a:cubicBezTo>
                  <a:cubicBezTo>
                    <a:pt x="922" y="7400762"/>
                    <a:pt x="922" y="3720358"/>
                    <a:pt x="0" y="39954"/>
                  </a:cubicBezTo>
                  <a:cubicBezTo>
                    <a:pt x="0" y="7277"/>
                    <a:pt x="8144" y="0"/>
                    <a:pt x="44564" y="0"/>
                  </a:cubicBezTo>
                  <a:cubicBezTo>
                    <a:pt x="3492586" y="824"/>
                    <a:pt x="6940609" y="824"/>
                    <a:pt x="10388631" y="824"/>
                  </a:cubicBezTo>
                  <a:close/>
                </a:path>
              </a:pathLst>
            </a:custGeom>
            <a:blipFill>
              <a:blip r:embed="rId3">
                <a:alphaModFix amt="84000"/>
              </a:blip>
              <a:stretch>
                <a:fillRect l="-30187" t="0" r="-3018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-2139609">
            <a:off x="2590504" y="1180076"/>
            <a:ext cx="739270" cy="565521"/>
          </a:xfrm>
          <a:custGeom>
            <a:avLst/>
            <a:gdLst/>
            <a:ahLst/>
            <a:cxnLst/>
            <a:rect r="r" b="b" t="t" l="l"/>
            <a:pathLst>
              <a:path h="565521" w="739270">
                <a:moveTo>
                  <a:pt x="739270" y="0"/>
                </a:moveTo>
                <a:lnTo>
                  <a:pt x="0" y="0"/>
                </a:lnTo>
                <a:lnTo>
                  <a:pt x="0" y="565521"/>
                </a:lnTo>
                <a:lnTo>
                  <a:pt x="739270" y="565521"/>
                </a:lnTo>
                <a:lnTo>
                  <a:pt x="73927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9972" y="-634649"/>
            <a:ext cx="1751570" cy="1440180"/>
          </a:xfrm>
          <a:custGeom>
            <a:avLst/>
            <a:gdLst/>
            <a:ahLst/>
            <a:cxnLst/>
            <a:rect r="r" b="b" t="t" l="l"/>
            <a:pathLst>
              <a:path h="1440180" w="1751570">
                <a:moveTo>
                  <a:pt x="0" y="0"/>
                </a:moveTo>
                <a:lnTo>
                  <a:pt x="1751571" y="0"/>
                </a:lnTo>
                <a:lnTo>
                  <a:pt x="175157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825457">
            <a:off x="-334569" y="1615962"/>
            <a:ext cx="1744992" cy="735514"/>
          </a:xfrm>
          <a:custGeom>
            <a:avLst/>
            <a:gdLst/>
            <a:ahLst/>
            <a:cxnLst/>
            <a:rect r="r" b="b" t="t" l="l"/>
            <a:pathLst>
              <a:path h="735514" w="1744992">
                <a:moveTo>
                  <a:pt x="0" y="0"/>
                </a:moveTo>
                <a:lnTo>
                  <a:pt x="1744992" y="0"/>
                </a:lnTo>
                <a:lnTo>
                  <a:pt x="1744992" y="735514"/>
                </a:lnTo>
                <a:lnTo>
                  <a:pt x="0" y="73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249699"/>
            <a:ext cx="1858182" cy="1020207"/>
            <a:chOff x="0" y="0"/>
            <a:chExt cx="2357087" cy="1294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7087" cy="1294122"/>
            </a:xfrm>
            <a:custGeom>
              <a:avLst/>
              <a:gdLst/>
              <a:ahLst/>
              <a:cxnLst/>
              <a:rect r="r" b="b" t="t" l="l"/>
              <a:pathLst>
                <a:path h="1294122" w="2357087">
                  <a:moveTo>
                    <a:pt x="416639" y="0"/>
                  </a:moveTo>
                  <a:lnTo>
                    <a:pt x="1940447" y="0"/>
                  </a:lnTo>
                  <a:cubicBezTo>
                    <a:pt x="2170551" y="0"/>
                    <a:pt x="2357087" y="186536"/>
                    <a:pt x="2357087" y="416639"/>
                  </a:cubicBezTo>
                  <a:lnTo>
                    <a:pt x="2357087" y="877483"/>
                  </a:lnTo>
                  <a:cubicBezTo>
                    <a:pt x="2357087" y="1107586"/>
                    <a:pt x="2170551" y="1294122"/>
                    <a:pt x="1940447" y="1294122"/>
                  </a:cubicBezTo>
                  <a:lnTo>
                    <a:pt x="416639" y="1294122"/>
                  </a:lnTo>
                  <a:cubicBezTo>
                    <a:pt x="186536" y="1294122"/>
                    <a:pt x="0" y="1107586"/>
                    <a:pt x="0" y="877483"/>
                  </a:cubicBezTo>
                  <a:lnTo>
                    <a:pt x="0" y="416639"/>
                  </a:lnTo>
                  <a:cubicBezTo>
                    <a:pt x="0" y="186536"/>
                    <a:pt x="186536" y="0"/>
                    <a:pt x="416639" y="0"/>
                  </a:cubicBezTo>
                  <a:close/>
                </a:path>
              </a:pathLst>
            </a:custGeom>
            <a:solidFill>
              <a:srgbClr val="000000">
                <a:alpha val="5372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6017" y="93622"/>
            <a:ext cx="1514183" cy="15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"/>
              </a:lnSpc>
              <a:spcBef>
                <a:spcPct val="0"/>
              </a:spcBef>
            </a:pPr>
            <a:r>
              <a:rPr lang="en-US" sz="760">
                <a:solidFill>
                  <a:srgbClr val="01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BIG DATA, TRANSACTIONS &amp; SELF-STABILIZATION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43" y="384526"/>
            <a:ext cx="1649297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MapRe</a:t>
            </a: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duce (Large-Scale Data Processing)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Map → Shuffle → Reduce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Automatic fault recovery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Used in: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Web indexing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Log analysis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Fraud detection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Weather systems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6642" y="-607979"/>
            <a:ext cx="1751570" cy="1440180"/>
          </a:xfrm>
          <a:custGeom>
            <a:avLst/>
            <a:gdLst/>
            <a:ahLst/>
            <a:cxnLst/>
            <a:rect r="r" b="b" t="t" l="l"/>
            <a:pathLst>
              <a:path h="1440180" w="1751570">
                <a:moveTo>
                  <a:pt x="0" y="0"/>
                </a:moveTo>
                <a:lnTo>
                  <a:pt x="1751571" y="0"/>
                </a:lnTo>
                <a:lnTo>
                  <a:pt x="175157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4287"/>
            <a:ext cx="1680854" cy="1799368"/>
            <a:chOff x="0" y="0"/>
            <a:chExt cx="10388632" cy="11121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8631" cy="11121120"/>
            </a:xfrm>
            <a:custGeom>
              <a:avLst/>
              <a:gdLst/>
              <a:ahLst/>
              <a:cxnLst/>
              <a:rect r="r" b="b" t="t" l="l"/>
              <a:pathLst>
                <a:path h="11121120" w="10388631">
                  <a:moveTo>
                    <a:pt x="10388631" y="824"/>
                  </a:moveTo>
                  <a:cubicBezTo>
                    <a:pt x="10383713" y="22105"/>
                    <a:pt x="10379258" y="43386"/>
                    <a:pt x="10373879" y="64530"/>
                  </a:cubicBezTo>
                  <a:cubicBezTo>
                    <a:pt x="10258475" y="524889"/>
                    <a:pt x="10142915" y="985111"/>
                    <a:pt x="10027510" y="1445471"/>
                  </a:cubicBezTo>
                  <a:cubicBezTo>
                    <a:pt x="9856937" y="2126193"/>
                    <a:pt x="9686826" y="2806916"/>
                    <a:pt x="9516099" y="3487501"/>
                  </a:cubicBezTo>
                  <a:cubicBezTo>
                    <a:pt x="9306341" y="4323369"/>
                    <a:pt x="9095969" y="5159101"/>
                    <a:pt x="8886210" y="5994970"/>
                  </a:cubicBezTo>
                  <a:cubicBezTo>
                    <a:pt x="8705496" y="6715096"/>
                    <a:pt x="8525088" y="7435223"/>
                    <a:pt x="8344528" y="8155487"/>
                  </a:cubicBezTo>
                  <a:cubicBezTo>
                    <a:pt x="8185941" y="8788156"/>
                    <a:pt x="8027662" y="9420687"/>
                    <a:pt x="7868769" y="10053218"/>
                  </a:cubicBezTo>
                  <a:cubicBezTo>
                    <a:pt x="7779487" y="10408956"/>
                    <a:pt x="7689438" y="10764558"/>
                    <a:pt x="7599695" y="11120296"/>
                  </a:cubicBezTo>
                  <a:cubicBezTo>
                    <a:pt x="5081215" y="11120296"/>
                    <a:pt x="2562889" y="11120158"/>
                    <a:pt x="44564" y="11121120"/>
                  </a:cubicBezTo>
                  <a:cubicBezTo>
                    <a:pt x="8144" y="11121120"/>
                    <a:pt x="0" y="11113843"/>
                    <a:pt x="0" y="11081166"/>
                  </a:cubicBezTo>
                  <a:cubicBezTo>
                    <a:pt x="922" y="7400762"/>
                    <a:pt x="922" y="3720358"/>
                    <a:pt x="0" y="39954"/>
                  </a:cubicBezTo>
                  <a:cubicBezTo>
                    <a:pt x="0" y="7277"/>
                    <a:pt x="8144" y="0"/>
                    <a:pt x="44564" y="0"/>
                  </a:cubicBezTo>
                  <a:cubicBezTo>
                    <a:pt x="3492586" y="824"/>
                    <a:pt x="6940609" y="824"/>
                    <a:pt x="10388631" y="824"/>
                  </a:cubicBezTo>
                  <a:close/>
                </a:path>
              </a:pathLst>
            </a:custGeom>
            <a:blipFill>
              <a:blip r:embed="rId3">
                <a:alphaModFix amt="84000"/>
              </a:blip>
              <a:stretch>
                <a:fillRect l="-30187" t="0" r="-3018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-2139609">
            <a:off x="2590504" y="1180076"/>
            <a:ext cx="739270" cy="565521"/>
          </a:xfrm>
          <a:custGeom>
            <a:avLst/>
            <a:gdLst/>
            <a:ahLst/>
            <a:cxnLst/>
            <a:rect r="r" b="b" t="t" l="l"/>
            <a:pathLst>
              <a:path h="565521" w="739270">
                <a:moveTo>
                  <a:pt x="739270" y="0"/>
                </a:moveTo>
                <a:lnTo>
                  <a:pt x="0" y="0"/>
                </a:lnTo>
                <a:lnTo>
                  <a:pt x="0" y="565521"/>
                </a:lnTo>
                <a:lnTo>
                  <a:pt x="739270" y="565521"/>
                </a:lnTo>
                <a:lnTo>
                  <a:pt x="73927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9972" y="-634649"/>
            <a:ext cx="1751570" cy="1440180"/>
          </a:xfrm>
          <a:custGeom>
            <a:avLst/>
            <a:gdLst/>
            <a:ahLst/>
            <a:cxnLst/>
            <a:rect r="r" b="b" t="t" l="l"/>
            <a:pathLst>
              <a:path h="1440180" w="1751570">
                <a:moveTo>
                  <a:pt x="0" y="0"/>
                </a:moveTo>
                <a:lnTo>
                  <a:pt x="1751571" y="0"/>
                </a:lnTo>
                <a:lnTo>
                  <a:pt x="175157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825457">
            <a:off x="-334569" y="1615962"/>
            <a:ext cx="1744992" cy="735514"/>
          </a:xfrm>
          <a:custGeom>
            <a:avLst/>
            <a:gdLst/>
            <a:ahLst/>
            <a:cxnLst/>
            <a:rect r="r" b="b" t="t" l="l"/>
            <a:pathLst>
              <a:path h="735514" w="1744992">
                <a:moveTo>
                  <a:pt x="0" y="0"/>
                </a:moveTo>
                <a:lnTo>
                  <a:pt x="1744992" y="0"/>
                </a:lnTo>
                <a:lnTo>
                  <a:pt x="1744992" y="735514"/>
                </a:lnTo>
                <a:lnTo>
                  <a:pt x="0" y="73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249699"/>
            <a:ext cx="1858182" cy="1020207"/>
            <a:chOff x="0" y="0"/>
            <a:chExt cx="2357087" cy="1294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7087" cy="1294122"/>
            </a:xfrm>
            <a:custGeom>
              <a:avLst/>
              <a:gdLst/>
              <a:ahLst/>
              <a:cxnLst/>
              <a:rect r="r" b="b" t="t" l="l"/>
              <a:pathLst>
                <a:path h="1294122" w="2357087">
                  <a:moveTo>
                    <a:pt x="416639" y="0"/>
                  </a:moveTo>
                  <a:lnTo>
                    <a:pt x="1940447" y="0"/>
                  </a:lnTo>
                  <a:cubicBezTo>
                    <a:pt x="2170551" y="0"/>
                    <a:pt x="2357087" y="186536"/>
                    <a:pt x="2357087" y="416639"/>
                  </a:cubicBezTo>
                  <a:lnTo>
                    <a:pt x="2357087" y="877483"/>
                  </a:lnTo>
                  <a:cubicBezTo>
                    <a:pt x="2357087" y="1107586"/>
                    <a:pt x="2170551" y="1294122"/>
                    <a:pt x="1940447" y="1294122"/>
                  </a:cubicBezTo>
                  <a:lnTo>
                    <a:pt x="416639" y="1294122"/>
                  </a:lnTo>
                  <a:cubicBezTo>
                    <a:pt x="186536" y="1294122"/>
                    <a:pt x="0" y="1107586"/>
                    <a:pt x="0" y="877483"/>
                  </a:cubicBezTo>
                  <a:lnTo>
                    <a:pt x="0" y="416639"/>
                  </a:lnTo>
                  <a:cubicBezTo>
                    <a:pt x="0" y="186536"/>
                    <a:pt x="186536" y="0"/>
                    <a:pt x="416639" y="0"/>
                  </a:cubicBezTo>
                  <a:close/>
                </a:path>
              </a:pathLst>
            </a:custGeom>
            <a:solidFill>
              <a:srgbClr val="000000">
                <a:alpha val="5372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6017" y="93622"/>
            <a:ext cx="1514183" cy="15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"/>
              </a:lnSpc>
              <a:spcBef>
                <a:spcPct val="0"/>
              </a:spcBef>
            </a:pPr>
            <a:r>
              <a:rPr lang="en-US" sz="760">
                <a:solidFill>
                  <a:srgbClr val="01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BIG DATA, TRANSACTIONS &amp; SELF-STABILIZATION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43" y="384526"/>
            <a:ext cx="1649297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MapRe</a:t>
            </a: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duce (Large-Scale Data Processing)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Map → Shuffle → Reduce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Automatic fault recovery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Used in: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Web indexing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Log analysis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Fraud detection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Weather systems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37657" y="74572"/>
            <a:ext cx="1858182" cy="630636"/>
            <a:chOff x="0" y="0"/>
            <a:chExt cx="2357087" cy="7999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7087" cy="799956"/>
            </a:xfrm>
            <a:custGeom>
              <a:avLst/>
              <a:gdLst/>
              <a:ahLst/>
              <a:cxnLst/>
              <a:rect r="r" b="b" t="t" l="l"/>
              <a:pathLst>
                <a:path h="799956" w="2357087">
                  <a:moveTo>
                    <a:pt x="399978" y="0"/>
                  </a:moveTo>
                  <a:lnTo>
                    <a:pt x="1957109" y="0"/>
                  </a:lnTo>
                  <a:cubicBezTo>
                    <a:pt x="2063190" y="0"/>
                    <a:pt x="2164925" y="42140"/>
                    <a:pt x="2239936" y="117151"/>
                  </a:cubicBezTo>
                  <a:cubicBezTo>
                    <a:pt x="2314946" y="192161"/>
                    <a:pt x="2357087" y="293897"/>
                    <a:pt x="2357087" y="399978"/>
                  </a:cubicBezTo>
                  <a:lnTo>
                    <a:pt x="2357087" y="399978"/>
                  </a:lnTo>
                  <a:cubicBezTo>
                    <a:pt x="2357087" y="506059"/>
                    <a:pt x="2314946" y="607794"/>
                    <a:pt x="2239936" y="682805"/>
                  </a:cubicBezTo>
                  <a:cubicBezTo>
                    <a:pt x="2164925" y="757815"/>
                    <a:pt x="2063190" y="799956"/>
                    <a:pt x="1957109" y="799956"/>
                  </a:cubicBezTo>
                  <a:lnTo>
                    <a:pt x="399978" y="799956"/>
                  </a:lnTo>
                  <a:cubicBezTo>
                    <a:pt x="293897" y="799956"/>
                    <a:pt x="192161" y="757815"/>
                    <a:pt x="117151" y="682805"/>
                  </a:cubicBezTo>
                  <a:cubicBezTo>
                    <a:pt x="42140" y="607794"/>
                    <a:pt x="0" y="506059"/>
                    <a:pt x="0" y="399978"/>
                  </a:cubicBezTo>
                  <a:lnTo>
                    <a:pt x="0" y="399978"/>
                  </a:lnTo>
                  <a:cubicBezTo>
                    <a:pt x="0" y="293897"/>
                    <a:pt x="42140" y="192161"/>
                    <a:pt x="117151" y="117151"/>
                  </a:cubicBezTo>
                  <a:cubicBezTo>
                    <a:pt x="192161" y="42140"/>
                    <a:pt x="293897" y="0"/>
                    <a:pt x="399978" y="0"/>
                  </a:cubicBezTo>
                  <a:close/>
                </a:path>
              </a:pathLst>
            </a:custGeom>
            <a:solidFill>
              <a:srgbClr val="000000">
                <a:alpha val="5372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980311" y="173355"/>
            <a:ext cx="1220089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Distrib</a:t>
            </a: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uted Transactions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Ensures ACID properties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Algorithms: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2PC, 3PC, Paxos Commit, Saga Pattern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6642" y="-607979"/>
            <a:ext cx="1751570" cy="1440180"/>
          </a:xfrm>
          <a:custGeom>
            <a:avLst/>
            <a:gdLst/>
            <a:ahLst/>
            <a:cxnLst/>
            <a:rect r="r" b="b" t="t" l="l"/>
            <a:pathLst>
              <a:path h="1440180" w="1751570">
                <a:moveTo>
                  <a:pt x="0" y="0"/>
                </a:moveTo>
                <a:lnTo>
                  <a:pt x="1751571" y="0"/>
                </a:lnTo>
                <a:lnTo>
                  <a:pt x="175157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4287"/>
            <a:ext cx="1680854" cy="1799368"/>
            <a:chOff x="0" y="0"/>
            <a:chExt cx="10388632" cy="111211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8631" cy="11121120"/>
            </a:xfrm>
            <a:custGeom>
              <a:avLst/>
              <a:gdLst/>
              <a:ahLst/>
              <a:cxnLst/>
              <a:rect r="r" b="b" t="t" l="l"/>
              <a:pathLst>
                <a:path h="11121120" w="10388631">
                  <a:moveTo>
                    <a:pt x="10388631" y="824"/>
                  </a:moveTo>
                  <a:cubicBezTo>
                    <a:pt x="10383713" y="22105"/>
                    <a:pt x="10379258" y="43386"/>
                    <a:pt x="10373879" y="64530"/>
                  </a:cubicBezTo>
                  <a:cubicBezTo>
                    <a:pt x="10258475" y="524889"/>
                    <a:pt x="10142915" y="985111"/>
                    <a:pt x="10027510" y="1445471"/>
                  </a:cubicBezTo>
                  <a:cubicBezTo>
                    <a:pt x="9856937" y="2126193"/>
                    <a:pt x="9686826" y="2806916"/>
                    <a:pt x="9516099" y="3487501"/>
                  </a:cubicBezTo>
                  <a:cubicBezTo>
                    <a:pt x="9306341" y="4323369"/>
                    <a:pt x="9095969" y="5159101"/>
                    <a:pt x="8886210" y="5994970"/>
                  </a:cubicBezTo>
                  <a:cubicBezTo>
                    <a:pt x="8705496" y="6715096"/>
                    <a:pt x="8525088" y="7435223"/>
                    <a:pt x="8344528" y="8155487"/>
                  </a:cubicBezTo>
                  <a:cubicBezTo>
                    <a:pt x="8185941" y="8788156"/>
                    <a:pt x="8027662" y="9420687"/>
                    <a:pt x="7868769" y="10053218"/>
                  </a:cubicBezTo>
                  <a:cubicBezTo>
                    <a:pt x="7779487" y="10408956"/>
                    <a:pt x="7689438" y="10764558"/>
                    <a:pt x="7599695" y="11120296"/>
                  </a:cubicBezTo>
                  <a:cubicBezTo>
                    <a:pt x="5081215" y="11120296"/>
                    <a:pt x="2562889" y="11120158"/>
                    <a:pt x="44564" y="11121120"/>
                  </a:cubicBezTo>
                  <a:cubicBezTo>
                    <a:pt x="8144" y="11121120"/>
                    <a:pt x="0" y="11113843"/>
                    <a:pt x="0" y="11081166"/>
                  </a:cubicBezTo>
                  <a:cubicBezTo>
                    <a:pt x="922" y="7400762"/>
                    <a:pt x="922" y="3720358"/>
                    <a:pt x="0" y="39954"/>
                  </a:cubicBezTo>
                  <a:cubicBezTo>
                    <a:pt x="0" y="7277"/>
                    <a:pt x="8144" y="0"/>
                    <a:pt x="44564" y="0"/>
                  </a:cubicBezTo>
                  <a:cubicBezTo>
                    <a:pt x="3492586" y="824"/>
                    <a:pt x="6940609" y="824"/>
                    <a:pt x="10388631" y="824"/>
                  </a:cubicBezTo>
                  <a:close/>
                </a:path>
              </a:pathLst>
            </a:custGeom>
            <a:blipFill>
              <a:blip r:embed="rId3">
                <a:alphaModFix amt="84000"/>
              </a:blip>
              <a:stretch>
                <a:fillRect l="-30187" t="0" r="-3018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-2139609">
            <a:off x="2590504" y="1180076"/>
            <a:ext cx="739270" cy="565521"/>
          </a:xfrm>
          <a:custGeom>
            <a:avLst/>
            <a:gdLst/>
            <a:ahLst/>
            <a:cxnLst/>
            <a:rect r="r" b="b" t="t" l="l"/>
            <a:pathLst>
              <a:path h="565521" w="739270">
                <a:moveTo>
                  <a:pt x="739270" y="0"/>
                </a:moveTo>
                <a:lnTo>
                  <a:pt x="0" y="0"/>
                </a:lnTo>
                <a:lnTo>
                  <a:pt x="0" y="565521"/>
                </a:lnTo>
                <a:lnTo>
                  <a:pt x="739270" y="565521"/>
                </a:lnTo>
                <a:lnTo>
                  <a:pt x="73927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9972" y="-634649"/>
            <a:ext cx="1751570" cy="1440180"/>
          </a:xfrm>
          <a:custGeom>
            <a:avLst/>
            <a:gdLst/>
            <a:ahLst/>
            <a:cxnLst/>
            <a:rect r="r" b="b" t="t" l="l"/>
            <a:pathLst>
              <a:path h="1440180" w="1751570">
                <a:moveTo>
                  <a:pt x="0" y="0"/>
                </a:moveTo>
                <a:lnTo>
                  <a:pt x="1751571" y="0"/>
                </a:lnTo>
                <a:lnTo>
                  <a:pt x="175157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825457">
            <a:off x="-334569" y="1615962"/>
            <a:ext cx="1744992" cy="735514"/>
          </a:xfrm>
          <a:custGeom>
            <a:avLst/>
            <a:gdLst/>
            <a:ahLst/>
            <a:cxnLst/>
            <a:rect r="r" b="b" t="t" l="l"/>
            <a:pathLst>
              <a:path h="735514" w="1744992">
                <a:moveTo>
                  <a:pt x="0" y="0"/>
                </a:moveTo>
                <a:lnTo>
                  <a:pt x="1744992" y="0"/>
                </a:lnTo>
                <a:lnTo>
                  <a:pt x="1744992" y="735514"/>
                </a:lnTo>
                <a:lnTo>
                  <a:pt x="0" y="735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249699"/>
            <a:ext cx="1858182" cy="1020207"/>
            <a:chOff x="0" y="0"/>
            <a:chExt cx="2357087" cy="12941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7087" cy="1294122"/>
            </a:xfrm>
            <a:custGeom>
              <a:avLst/>
              <a:gdLst/>
              <a:ahLst/>
              <a:cxnLst/>
              <a:rect r="r" b="b" t="t" l="l"/>
              <a:pathLst>
                <a:path h="1294122" w="2357087">
                  <a:moveTo>
                    <a:pt x="416639" y="0"/>
                  </a:moveTo>
                  <a:lnTo>
                    <a:pt x="1940447" y="0"/>
                  </a:lnTo>
                  <a:cubicBezTo>
                    <a:pt x="2170551" y="0"/>
                    <a:pt x="2357087" y="186536"/>
                    <a:pt x="2357087" y="416639"/>
                  </a:cubicBezTo>
                  <a:lnTo>
                    <a:pt x="2357087" y="877483"/>
                  </a:lnTo>
                  <a:cubicBezTo>
                    <a:pt x="2357087" y="1107586"/>
                    <a:pt x="2170551" y="1294122"/>
                    <a:pt x="1940447" y="1294122"/>
                  </a:cubicBezTo>
                  <a:lnTo>
                    <a:pt x="416639" y="1294122"/>
                  </a:lnTo>
                  <a:cubicBezTo>
                    <a:pt x="186536" y="1294122"/>
                    <a:pt x="0" y="1107586"/>
                    <a:pt x="0" y="877483"/>
                  </a:cubicBezTo>
                  <a:lnTo>
                    <a:pt x="0" y="416639"/>
                  </a:lnTo>
                  <a:cubicBezTo>
                    <a:pt x="0" y="186536"/>
                    <a:pt x="186536" y="0"/>
                    <a:pt x="416639" y="0"/>
                  </a:cubicBezTo>
                  <a:close/>
                </a:path>
              </a:pathLst>
            </a:custGeom>
            <a:solidFill>
              <a:srgbClr val="000000">
                <a:alpha val="5372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6017" y="93622"/>
            <a:ext cx="1514183" cy="15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"/>
              </a:lnSpc>
              <a:spcBef>
                <a:spcPct val="0"/>
              </a:spcBef>
            </a:pPr>
            <a:r>
              <a:rPr lang="en-US" sz="760">
                <a:solidFill>
                  <a:srgbClr val="01FFFF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BIG DATA, TRANSACTIONS &amp; SELF-STABILIZATION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43" y="384526"/>
            <a:ext cx="1649297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MapRe</a:t>
            </a: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duce (Large-Scale Data Processing)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Map → Shuffle → Reduce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Automatic fault recovery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Used in: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Web indexing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Log analysis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Fraud detection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Weather systems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37657" y="74572"/>
            <a:ext cx="1858182" cy="630636"/>
            <a:chOff x="0" y="0"/>
            <a:chExt cx="2357087" cy="7999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7087" cy="799956"/>
            </a:xfrm>
            <a:custGeom>
              <a:avLst/>
              <a:gdLst/>
              <a:ahLst/>
              <a:cxnLst/>
              <a:rect r="r" b="b" t="t" l="l"/>
              <a:pathLst>
                <a:path h="799956" w="2357087">
                  <a:moveTo>
                    <a:pt x="399978" y="0"/>
                  </a:moveTo>
                  <a:lnTo>
                    <a:pt x="1957109" y="0"/>
                  </a:lnTo>
                  <a:cubicBezTo>
                    <a:pt x="2063190" y="0"/>
                    <a:pt x="2164925" y="42140"/>
                    <a:pt x="2239936" y="117151"/>
                  </a:cubicBezTo>
                  <a:cubicBezTo>
                    <a:pt x="2314946" y="192161"/>
                    <a:pt x="2357087" y="293897"/>
                    <a:pt x="2357087" y="399978"/>
                  </a:cubicBezTo>
                  <a:lnTo>
                    <a:pt x="2357087" y="399978"/>
                  </a:lnTo>
                  <a:cubicBezTo>
                    <a:pt x="2357087" y="506059"/>
                    <a:pt x="2314946" y="607794"/>
                    <a:pt x="2239936" y="682805"/>
                  </a:cubicBezTo>
                  <a:cubicBezTo>
                    <a:pt x="2164925" y="757815"/>
                    <a:pt x="2063190" y="799956"/>
                    <a:pt x="1957109" y="799956"/>
                  </a:cubicBezTo>
                  <a:lnTo>
                    <a:pt x="399978" y="799956"/>
                  </a:lnTo>
                  <a:cubicBezTo>
                    <a:pt x="293897" y="799956"/>
                    <a:pt x="192161" y="757815"/>
                    <a:pt x="117151" y="682805"/>
                  </a:cubicBezTo>
                  <a:cubicBezTo>
                    <a:pt x="42140" y="607794"/>
                    <a:pt x="0" y="506059"/>
                    <a:pt x="0" y="399978"/>
                  </a:cubicBezTo>
                  <a:lnTo>
                    <a:pt x="0" y="399978"/>
                  </a:lnTo>
                  <a:cubicBezTo>
                    <a:pt x="0" y="293897"/>
                    <a:pt x="42140" y="192161"/>
                    <a:pt x="117151" y="117151"/>
                  </a:cubicBezTo>
                  <a:cubicBezTo>
                    <a:pt x="192161" y="42140"/>
                    <a:pt x="293897" y="0"/>
                    <a:pt x="399978" y="0"/>
                  </a:cubicBezTo>
                  <a:close/>
                </a:path>
              </a:pathLst>
            </a:custGeom>
            <a:solidFill>
              <a:srgbClr val="000000">
                <a:alpha val="5372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980311" y="173355"/>
            <a:ext cx="1220089" cy="50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Distrib</a:t>
            </a: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uted Transactions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Ensures ACID properties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Algorithms: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2PC, 3PC, Paxos Commit, Saga Pattern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849972" y="1017608"/>
            <a:ext cx="1858182" cy="753149"/>
            <a:chOff x="0" y="0"/>
            <a:chExt cx="2357087" cy="9553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7087" cy="955363"/>
            </a:xfrm>
            <a:custGeom>
              <a:avLst/>
              <a:gdLst/>
              <a:ahLst/>
              <a:cxnLst/>
              <a:rect r="r" b="b" t="t" l="l"/>
              <a:pathLst>
                <a:path h="955363" w="2357087">
                  <a:moveTo>
                    <a:pt x="416639" y="0"/>
                  </a:moveTo>
                  <a:lnTo>
                    <a:pt x="1940447" y="0"/>
                  </a:lnTo>
                  <a:cubicBezTo>
                    <a:pt x="2170551" y="0"/>
                    <a:pt x="2357087" y="186536"/>
                    <a:pt x="2357087" y="416639"/>
                  </a:cubicBezTo>
                  <a:lnTo>
                    <a:pt x="2357087" y="538724"/>
                  </a:lnTo>
                  <a:cubicBezTo>
                    <a:pt x="2357087" y="768827"/>
                    <a:pt x="2170551" y="955363"/>
                    <a:pt x="1940447" y="955363"/>
                  </a:cubicBezTo>
                  <a:lnTo>
                    <a:pt x="416639" y="955363"/>
                  </a:lnTo>
                  <a:cubicBezTo>
                    <a:pt x="186536" y="955363"/>
                    <a:pt x="0" y="768827"/>
                    <a:pt x="0" y="538724"/>
                  </a:cubicBezTo>
                  <a:lnTo>
                    <a:pt x="0" y="416639"/>
                  </a:lnTo>
                  <a:cubicBezTo>
                    <a:pt x="0" y="186536"/>
                    <a:pt x="186536" y="0"/>
                    <a:pt x="416639" y="0"/>
                  </a:cubicBezTo>
                  <a:close/>
                </a:path>
              </a:pathLst>
            </a:custGeom>
            <a:solidFill>
              <a:srgbClr val="000000">
                <a:alpha val="5372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999901" y="1008083"/>
            <a:ext cx="1220089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600">
                <a:solidFill>
                  <a:srgbClr val="01FFFF"/>
                </a:solidFill>
                <a:latin typeface="Canva Sans"/>
                <a:ea typeface="Canva Sans"/>
                <a:cs typeface="Canva Sans"/>
                <a:sym typeface="Canva Sans"/>
              </a:rPr>
              <a:t>elf-Stabilizing Systems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Automatic recovery after faults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● Used in:</a:t>
            </a:r>
          </a:p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○ Self-healing cloud systems, Telecom networks, Blockchain systems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6380" r="-3571" b="-63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712" y="-734775"/>
            <a:ext cx="1892169" cy="1892169"/>
          </a:xfrm>
          <a:custGeom>
            <a:avLst/>
            <a:gdLst/>
            <a:ahLst/>
            <a:cxnLst/>
            <a:rect r="r" b="b" t="t" l="l"/>
            <a:pathLst>
              <a:path h="1892169" w="1892169">
                <a:moveTo>
                  <a:pt x="0" y="0"/>
                </a:moveTo>
                <a:lnTo>
                  <a:pt x="1892168" y="0"/>
                </a:lnTo>
                <a:lnTo>
                  <a:pt x="1892168" y="1892168"/>
                </a:lnTo>
                <a:lnTo>
                  <a:pt x="0" y="1892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94395" y="977559"/>
            <a:ext cx="1008767" cy="1008767"/>
          </a:xfrm>
          <a:custGeom>
            <a:avLst/>
            <a:gdLst/>
            <a:ahLst/>
            <a:cxnLst/>
            <a:rect r="r" b="b" t="t" l="l"/>
            <a:pathLst>
              <a:path h="1008767" w="1008767">
                <a:moveTo>
                  <a:pt x="0" y="0"/>
                </a:moveTo>
                <a:lnTo>
                  <a:pt x="1008767" y="0"/>
                </a:lnTo>
                <a:lnTo>
                  <a:pt x="1008767" y="1008767"/>
                </a:lnTo>
                <a:lnTo>
                  <a:pt x="0" y="10087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9502" y="1294283"/>
            <a:ext cx="1008767" cy="1008767"/>
          </a:xfrm>
          <a:custGeom>
            <a:avLst/>
            <a:gdLst/>
            <a:ahLst/>
            <a:cxnLst/>
            <a:rect r="r" b="b" t="t" l="l"/>
            <a:pathLst>
              <a:path h="1008767" w="1008767">
                <a:moveTo>
                  <a:pt x="0" y="0"/>
                </a:moveTo>
                <a:lnTo>
                  <a:pt x="1008767" y="0"/>
                </a:lnTo>
                <a:lnTo>
                  <a:pt x="1008767" y="1008767"/>
                </a:lnTo>
                <a:lnTo>
                  <a:pt x="0" y="1008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510" y="196215"/>
            <a:ext cx="1809766" cy="771819"/>
            <a:chOff x="0" y="0"/>
            <a:chExt cx="1577138" cy="672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7138" cy="672609"/>
            </a:xfrm>
            <a:custGeom>
              <a:avLst/>
              <a:gdLst/>
              <a:ahLst/>
              <a:cxnLst/>
              <a:rect r="r" b="b" t="t" l="l"/>
              <a:pathLst>
                <a:path h="672609" w="1577138">
                  <a:moveTo>
                    <a:pt x="336305" y="0"/>
                  </a:moveTo>
                  <a:lnTo>
                    <a:pt x="1240833" y="0"/>
                  </a:lnTo>
                  <a:cubicBezTo>
                    <a:pt x="1426569" y="0"/>
                    <a:pt x="1577138" y="150569"/>
                    <a:pt x="1577138" y="336305"/>
                  </a:cubicBezTo>
                  <a:lnTo>
                    <a:pt x="1577138" y="336305"/>
                  </a:lnTo>
                  <a:cubicBezTo>
                    <a:pt x="1577138" y="522041"/>
                    <a:pt x="1426569" y="672609"/>
                    <a:pt x="1240833" y="672609"/>
                  </a:cubicBezTo>
                  <a:lnTo>
                    <a:pt x="336305" y="672609"/>
                  </a:lnTo>
                  <a:cubicBezTo>
                    <a:pt x="150569" y="672609"/>
                    <a:pt x="0" y="522041"/>
                    <a:pt x="0" y="336305"/>
                  </a:cubicBezTo>
                  <a:lnTo>
                    <a:pt x="0" y="336305"/>
                  </a:lnTo>
                  <a:cubicBezTo>
                    <a:pt x="0" y="150569"/>
                    <a:pt x="150569" y="0"/>
                    <a:pt x="336305" y="0"/>
                  </a:cubicBezTo>
                  <a:close/>
                </a:path>
              </a:pathLst>
            </a:custGeom>
            <a:solidFill>
              <a:srgbClr val="E9E9E9">
                <a:alpha val="9098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82880" y="40018"/>
            <a:ext cx="2694428" cy="1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</a:pPr>
            <a:r>
              <a:rPr lang="en-US" sz="8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Python-Based Distributed System Simulations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973" y="265895"/>
            <a:ext cx="168884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Distributed system algorithms were implemented using Python simul</a:t>
            </a: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ations.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algorithm models: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Multiple distributed nodes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Concurrent execution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Inter-node communication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5" t="-6250" r="-4365" b="-6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712" y="-734775"/>
            <a:ext cx="1892169" cy="1892169"/>
          </a:xfrm>
          <a:custGeom>
            <a:avLst/>
            <a:gdLst/>
            <a:ahLst/>
            <a:cxnLst/>
            <a:rect r="r" b="b" t="t" l="l"/>
            <a:pathLst>
              <a:path h="1892169" w="1892169">
                <a:moveTo>
                  <a:pt x="0" y="0"/>
                </a:moveTo>
                <a:lnTo>
                  <a:pt x="1892168" y="0"/>
                </a:lnTo>
                <a:lnTo>
                  <a:pt x="1892168" y="1892168"/>
                </a:lnTo>
                <a:lnTo>
                  <a:pt x="0" y="1892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96260" y="789899"/>
            <a:ext cx="1008767" cy="1008767"/>
          </a:xfrm>
          <a:custGeom>
            <a:avLst/>
            <a:gdLst/>
            <a:ahLst/>
            <a:cxnLst/>
            <a:rect r="r" b="b" t="t" l="l"/>
            <a:pathLst>
              <a:path h="1008767" w="1008767">
                <a:moveTo>
                  <a:pt x="0" y="0"/>
                </a:moveTo>
                <a:lnTo>
                  <a:pt x="1008767" y="0"/>
                </a:lnTo>
                <a:lnTo>
                  <a:pt x="1008767" y="1008767"/>
                </a:lnTo>
                <a:lnTo>
                  <a:pt x="0" y="1008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9" y="1397173"/>
            <a:ext cx="1008767" cy="1008767"/>
          </a:xfrm>
          <a:custGeom>
            <a:avLst/>
            <a:gdLst/>
            <a:ahLst/>
            <a:cxnLst/>
            <a:rect r="r" b="b" t="t" l="l"/>
            <a:pathLst>
              <a:path h="1008767" w="1008767">
                <a:moveTo>
                  <a:pt x="0" y="0"/>
                </a:moveTo>
                <a:lnTo>
                  <a:pt x="1008767" y="0"/>
                </a:lnTo>
                <a:lnTo>
                  <a:pt x="1008767" y="1008767"/>
                </a:lnTo>
                <a:lnTo>
                  <a:pt x="0" y="10087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510" y="196215"/>
            <a:ext cx="1809766" cy="771819"/>
            <a:chOff x="0" y="0"/>
            <a:chExt cx="1577138" cy="672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7138" cy="672609"/>
            </a:xfrm>
            <a:custGeom>
              <a:avLst/>
              <a:gdLst/>
              <a:ahLst/>
              <a:cxnLst/>
              <a:rect r="r" b="b" t="t" l="l"/>
              <a:pathLst>
                <a:path h="672609" w="1577138">
                  <a:moveTo>
                    <a:pt x="336305" y="0"/>
                  </a:moveTo>
                  <a:lnTo>
                    <a:pt x="1240833" y="0"/>
                  </a:lnTo>
                  <a:cubicBezTo>
                    <a:pt x="1426569" y="0"/>
                    <a:pt x="1577138" y="150569"/>
                    <a:pt x="1577138" y="336305"/>
                  </a:cubicBezTo>
                  <a:lnTo>
                    <a:pt x="1577138" y="336305"/>
                  </a:lnTo>
                  <a:cubicBezTo>
                    <a:pt x="1577138" y="522041"/>
                    <a:pt x="1426569" y="672609"/>
                    <a:pt x="1240833" y="672609"/>
                  </a:cubicBezTo>
                  <a:lnTo>
                    <a:pt x="336305" y="672609"/>
                  </a:lnTo>
                  <a:cubicBezTo>
                    <a:pt x="150569" y="672609"/>
                    <a:pt x="0" y="522041"/>
                    <a:pt x="0" y="336305"/>
                  </a:cubicBezTo>
                  <a:lnTo>
                    <a:pt x="0" y="336305"/>
                  </a:lnTo>
                  <a:cubicBezTo>
                    <a:pt x="0" y="150569"/>
                    <a:pt x="150569" y="0"/>
                    <a:pt x="336305" y="0"/>
                  </a:cubicBezTo>
                  <a:close/>
                </a:path>
              </a:pathLst>
            </a:custGeom>
            <a:solidFill>
              <a:srgbClr val="E9E9E9">
                <a:alpha val="9098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62973" y="265895"/>
            <a:ext cx="168884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Distributed system algorithms were implemented using Python simul</a:t>
            </a: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ations.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algorithm models: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Multiple distributed nodes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Concurrent execution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Inter-node communication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5604" y="654056"/>
            <a:ext cx="1809766" cy="771819"/>
            <a:chOff x="0" y="0"/>
            <a:chExt cx="1577138" cy="6726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7138" cy="672609"/>
            </a:xfrm>
            <a:custGeom>
              <a:avLst/>
              <a:gdLst/>
              <a:ahLst/>
              <a:cxnLst/>
              <a:rect r="r" b="b" t="t" l="l"/>
              <a:pathLst>
                <a:path h="672609" w="1577138">
                  <a:moveTo>
                    <a:pt x="336305" y="0"/>
                  </a:moveTo>
                  <a:lnTo>
                    <a:pt x="1240833" y="0"/>
                  </a:lnTo>
                  <a:cubicBezTo>
                    <a:pt x="1426569" y="0"/>
                    <a:pt x="1577138" y="150569"/>
                    <a:pt x="1577138" y="336305"/>
                  </a:cubicBezTo>
                  <a:lnTo>
                    <a:pt x="1577138" y="336305"/>
                  </a:lnTo>
                  <a:cubicBezTo>
                    <a:pt x="1577138" y="522041"/>
                    <a:pt x="1426569" y="672609"/>
                    <a:pt x="1240833" y="672609"/>
                  </a:cubicBezTo>
                  <a:lnTo>
                    <a:pt x="336305" y="672609"/>
                  </a:lnTo>
                  <a:cubicBezTo>
                    <a:pt x="150569" y="672609"/>
                    <a:pt x="0" y="522041"/>
                    <a:pt x="0" y="336305"/>
                  </a:cubicBezTo>
                  <a:lnTo>
                    <a:pt x="0" y="336305"/>
                  </a:lnTo>
                  <a:cubicBezTo>
                    <a:pt x="0" y="150569"/>
                    <a:pt x="150569" y="0"/>
                    <a:pt x="336305" y="0"/>
                  </a:cubicBezTo>
                  <a:close/>
                </a:path>
              </a:pathLst>
            </a:custGeom>
            <a:solidFill>
              <a:srgbClr val="2D5676">
                <a:alpha val="9098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82880" y="40018"/>
            <a:ext cx="2694428" cy="1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</a:pPr>
            <a:r>
              <a:rPr lang="en-US" sz="8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Python-Based Distributed System Simulations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5473" y="671348"/>
            <a:ext cx="1483567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b="true" sz="6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Implemented algorithm categories: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Synchronization &amp; Coordin</a:t>
            </a: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Consensus Algorithms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Scheduling &amp; Load Balancing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Fault Tolerance &amp; Replication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Distributed Query Processing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Data Partitioning &amp; MapReduce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5" t="-6250" r="-4365" b="-62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712" y="-734775"/>
            <a:ext cx="1892169" cy="1892169"/>
          </a:xfrm>
          <a:custGeom>
            <a:avLst/>
            <a:gdLst/>
            <a:ahLst/>
            <a:cxnLst/>
            <a:rect r="r" b="b" t="t" l="l"/>
            <a:pathLst>
              <a:path h="1892169" w="1892169">
                <a:moveTo>
                  <a:pt x="0" y="0"/>
                </a:moveTo>
                <a:lnTo>
                  <a:pt x="1892168" y="0"/>
                </a:lnTo>
                <a:lnTo>
                  <a:pt x="1892168" y="1892168"/>
                </a:lnTo>
                <a:lnTo>
                  <a:pt x="0" y="1892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96260" y="789899"/>
            <a:ext cx="1008767" cy="1008767"/>
          </a:xfrm>
          <a:custGeom>
            <a:avLst/>
            <a:gdLst/>
            <a:ahLst/>
            <a:cxnLst/>
            <a:rect r="r" b="b" t="t" l="l"/>
            <a:pathLst>
              <a:path h="1008767" w="1008767">
                <a:moveTo>
                  <a:pt x="0" y="0"/>
                </a:moveTo>
                <a:lnTo>
                  <a:pt x="1008767" y="0"/>
                </a:lnTo>
                <a:lnTo>
                  <a:pt x="1008767" y="1008767"/>
                </a:lnTo>
                <a:lnTo>
                  <a:pt x="0" y="1008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9" y="1397173"/>
            <a:ext cx="1008767" cy="1008767"/>
          </a:xfrm>
          <a:custGeom>
            <a:avLst/>
            <a:gdLst/>
            <a:ahLst/>
            <a:cxnLst/>
            <a:rect r="r" b="b" t="t" l="l"/>
            <a:pathLst>
              <a:path h="1008767" w="1008767">
                <a:moveTo>
                  <a:pt x="0" y="0"/>
                </a:moveTo>
                <a:lnTo>
                  <a:pt x="1008767" y="0"/>
                </a:lnTo>
                <a:lnTo>
                  <a:pt x="1008767" y="1008767"/>
                </a:lnTo>
                <a:lnTo>
                  <a:pt x="0" y="10087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510" y="196215"/>
            <a:ext cx="1809766" cy="771819"/>
            <a:chOff x="0" y="0"/>
            <a:chExt cx="1577138" cy="672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7138" cy="672609"/>
            </a:xfrm>
            <a:custGeom>
              <a:avLst/>
              <a:gdLst/>
              <a:ahLst/>
              <a:cxnLst/>
              <a:rect r="r" b="b" t="t" l="l"/>
              <a:pathLst>
                <a:path h="672609" w="1577138">
                  <a:moveTo>
                    <a:pt x="336305" y="0"/>
                  </a:moveTo>
                  <a:lnTo>
                    <a:pt x="1240833" y="0"/>
                  </a:lnTo>
                  <a:cubicBezTo>
                    <a:pt x="1426569" y="0"/>
                    <a:pt x="1577138" y="150569"/>
                    <a:pt x="1577138" y="336305"/>
                  </a:cubicBezTo>
                  <a:lnTo>
                    <a:pt x="1577138" y="336305"/>
                  </a:lnTo>
                  <a:cubicBezTo>
                    <a:pt x="1577138" y="522041"/>
                    <a:pt x="1426569" y="672609"/>
                    <a:pt x="1240833" y="672609"/>
                  </a:cubicBezTo>
                  <a:lnTo>
                    <a:pt x="336305" y="672609"/>
                  </a:lnTo>
                  <a:cubicBezTo>
                    <a:pt x="150569" y="672609"/>
                    <a:pt x="0" y="522041"/>
                    <a:pt x="0" y="336305"/>
                  </a:cubicBezTo>
                  <a:lnTo>
                    <a:pt x="0" y="336305"/>
                  </a:lnTo>
                  <a:cubicBezTo>
                    <a:pt x="0" y="150569"/>
                    <a:pt x="150569" y="0"/>
                    <a:pt x="336305" y="0"/>
                  </a:cubicBezTo>
                  <a:close/>
                </a:path>
              </a:pathLst>
            </a:custGeom>
            <a:solidFill>
              <a:srgbClr val="E9E9E9">
                <a:alpha val="9098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62973" y="265895"/>
            <a:ext cx="168884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Distributed system algorithms were implemented using Python simul</a:t>
            </a: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ations.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algorithm models: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Multiple distributed nodes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Concurrent execution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Inter-node communication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85604" y="654056"/>
            <a:ext cx="1809766" cy="771819"/>
            <a:chOff x="0" y="0"/>
            <a:chExt cx="1577138" cy="6726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7138" cy="672609"/>
            </a:xfrm>
            <a:custGeom>
              <a:avLst/>
              <a:gdLst/>
              <a:ahLst/>
              <a:cxnLst/>
              <a:rect r="r" b="b" t="t" l="l"/>
              <a:pathLst>
                <a:path h="672609" w="1577138">
                  <a:moveTo>
                    <a:pt x="336305" y="0"/>
                  </a:moveTo>
                  <a:lnTo>
                    <a:pt x="1240833" y="0"/>
                  </a:lnTo>
                  <a:cubicBezTo>
                    <a:pt x="1426569" y="0"/>
                    <a:pt x="1577138" y="150569"/>
                    <a:pt x="1577138" y="336305"/>
                  </a:cubicBezTo>
                  <a:lnTo>
                    <a:pt x="1577138" y="336305"/>
                  </a:lnTo>
                  <a:cubicBezTo>
                    <a:pt x="1577138" y="522041"/>
                    <a:pt x="1426569" y="672609"/>
                    <a:pt x="1240833" y="672609"/>
                  </a:cubicBezTo>
                  <a:lnTo>
                    <a:pt x="336305" y="672609"/>
                  </a:lnTo>
                  <a:cubicBezTo>
                    <a:pt x="150569" y="672609"/>
                    <a:pt x="0" y="522041"/>
                    <a:pt x="0" y="336305"/>
                  </a:cubicBezTo>
                  <a:lnTo>
                    <a:pt x="0" y="336305"/>
                  </a:lnTo>
                  <a:cubicBezTo>
                    <a:pt x="0" y="150569"/>
                    <a:pt x="150569" y="0"/>
                    <a:pt x="336305" y="0"/>
                  </a:cubicBezTo>
                  <a:close/>
                </a:path>
              </a:pathLst>
            </a:custGeom>
            <a:solidFill>
              <a:srgbClr val="2D5676">
                <a:alpha val="9098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279671" y="1166918"/>
            <a:ext cx="1809766" cy="479002"/>
            <a:chOff x="0" y="0"/>
            <a:chExt cx="1577138" cy="4174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7138" cy="417431"/>
            </a:xfrm>
            <a:custGeom>
              <a:avLst/>
              <a:gdLst/>
              <a:ahLst/>
              <a:cxnLst/>
              <a:rect r="r" b="b" t="t" l="l"/>
              <a:pathLst>
                <a:path h="417431" w="1577138">
                  <a:moveTo>
                    <a:pt x="208715" y="0"/>
                  </a:moveTo>
                  <a:lnTo>
                    <a:pt x="1368422" y="0"/>
                  </a:lnTo>
                  <a:cubicBezTo>
                    <a:pt x="1483693" y="0"/>
                    <a:pt x="1577138" y="93445"/>
                    <a:pt x="1577138" y="208715"/>
                  </a:cubicBezTo>
                  <a:lnTo>
                    <a:pt x="1577138" y="208715"/>
                  </a:lnTo>
                  <a:cubicBezTo>
                    <a:pt x="1577138" y="323986"/>
                    <a:pt x="1483693" y="417431"/>
                    <a:pt x="1368422" y="417431"/>
                  </a:cubicBezTo>
                  <a:lnTo>
                    <a:pt x="208715" y="417431"/>
                  </a:lnTo>
                  <a:cubicBezTo>
                    <a:pt x="93445" y="417431"/>
                    <a:pt x="0" y="323986"/>
                    <a:pt x="0" y="208715"/>
                  </a:cubicBezTo>
                  <a:lnTo>
                    <a:pt x="0" y="208715"/>
                  </a:lnTo>
                  <a:cubicBezTo>
                    <a:pt x="0" y="93445"/>
                    <a:pt x="93445" y="0"/>
                    <a:pt x="208715" y="0"/>
                  </a:cubicBezTo>
                  <a:close/>
                </a:path>
              </a:pathLst>
            </a:custGeom>
            <a:solidFill>
              <a:srgbClr val="2D5676">
                <a:alpha val="9098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82880" y="40018"/>
            <a:ext cx="2694428" cy="1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"/>
              </a:lnSpc>
            </a:pPr>
            <a:r>
              <a:rPr lang="en-US" sz="899" b="true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Python-Based Distributed System Simulations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5473" y="671348"/>
            <a:ext cx="1483567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b="true" sz="6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Implemented algorithm categories: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Synchronization &amp; Coordin</a:t>
            </a: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Consensus Algorithms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Scheduling &amp; Load Balancing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Fault Tolerance &amp; Replication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Distributed Query Processing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Data Partitioning &amp; MapReduce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89" y="1243118"/>
            <a:ext cx="1483567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"/>
              </a:lnSpc>
            </a:pPr>
            <a:r>
              <a:rPr lang="en-US" b="true" sz="6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Simulations allowed:</a:t>
            </a:r>
          </a:p>
          <a:p>
            <a:pPr algn="ctr">
              <a:lnSpc>
                <a:spcPts val="839"/>
              </a:lnSpc>
            </a:pP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Task dis</a:t>
            </a:r>
            <a:r>
              <a:rPr lang="en-US" sz="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tribution, Data sharing, Failure injection, Recovery testing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43749" r="-3571" b="-437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81670" y="173751"/>
            <a:ext cx="215480" cy="20559"/>
            <a:chOff x="0" y="0"/>
            <a:chExt cx="397385" cy="379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7385" cy="37914"/>
            </a:xfrm>
            <a:custGeom>
              <a:avLst/>
              <a:gdLst/>
              <a:ahLst/>
              <a:cxnLst/>
              <a:rect r="r" b="b" t="t" l="l"/>
              <a:pathLst>
                <a:path h="37914" w="397385">
                  <a:moveTo>
                    <a:pt x="0" y="0"/>
                  </a:moveTo>
                  <a:lnTo>
                    <a:pt x="397385" y="0"/>
                  </a:lnTo>
                  <a:lnTo>
                    <a:pt x="397385" y="37914"/>
                  </a:lnTo>
                  <a:lnTo>
                    <a:pt x="0" y="37914"/>
                  </a:lnTo>
                  <a:close/>
                </a:path>
              </a:pathLst>
            </a:custGeom>
            <a:solidFill>
              <a:srgbClr val="01E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97385" cy="47439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388" y="22815"/>
            <a:ext cx="180022" cy="1800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1E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 marL="0" indent="0" lvl="0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2462" y="1013459"/>
            <a:ext cx="1682662" cy="869538"/>
            <a:chOff x="0" y="0"/>
            <a:chExt cx="6967311" cy="3600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67311" cy="3600450"/>
            </a:xfrm>
            <a:custGeom>
              <a:avLst/>
              <a:gdLst/>
              <a:ahLst/>
              <a:cxnLst/>
              <a:rect r="r" b="b" t="t" l="l"/>
              <a:pathLst>
                <a:path h="3600450" w="6967311">
                  <a:moveTo>
                    <a:pt x="898632" y="0"/>
                  </a:moveTo>
                  <a:lnTo>
                    <a:pt x="4643168" y="0"/>
                  </a:lnTo>
                  <a:cubicBezTo>
                    <a:pt x="5220541" y="0"/>
                    <a:pt x="5776305" y="219578"/>
                    <a:pt x="6197763" y="614208"/>
                  </a:cubicBezTo>
                  <a:lnTo>
                    <a:pt x="6311348" y="720562"/>
                  </a:lnTo>
                  <a:cubicBezTo>
                    <a:pt x="6729834" y="1112409"/>
                    <a:pt x="6967311" y="1660100"/>
                    <a:pt x="6967311" y="2233402"/>
                  </a:cubicBezTo>
                  <a:lnTo>
                    <a:pt x="6967311" y="2701818"/>
                  </a:lnTo>
                  <a:cubicBezTo>
                    <a:pt x="6967311" y="2940150"/>
                    <a:pt x="6872634" y="3168721"/>
                    <a:pt x="6704108" y="3337247"/>
                  </a:cubicBezTo>
                  <a:cubicBezTo>
                    <a:pt x="6535582" y="3505773"/>
                    <a:pt x="6307012" y="3600450"/>
                    <a:pt x="6068680" y="3600450"/>
                  </a:cubicBezTo>
                  <a:lnTo>
                    <a:pt x="898632" y="3600450"/>
                  </a:lnTo>
                  <a:cubicBezTo>
                    <a:pt x="660300" y="3600450"/>
                    <a:pt x="431729" y="3505773"/>
                    <a:pt x="263203" y="3337247"/>
                  </a:cubicBezTo>
                  <a:cubicBezTo>
                    <a:pt x="94677" y="3168721"/>
                    <a:pt x="0" y="2940150"/>
                    <a:pt x="0" y="2701818"/>
                  </a:cubicBezTo>
                  <a:lnTo>
                    <a:pt x="0" y="898632"/>
                  </a:lnTo>
                  <a:cubicBezTo>
                    <a:pt x="0" y="660300"/>
                    <a:pt x="94677" y="431729"/>
                    <a:pt x="263203" y="263203"/>
                  </a:cubicBezTo>
                  <a:cubicBezTo>
                    <a:pt x="431729" y="94677"/>
                    <a:pt x="660300" y="0"/>
                    <a:pt x="8986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2295" r="0" b="-12229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399" y="287625"/>
            <a:ext cx="1581908" cy="13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931">
                <a:solidFill>
                  <a:srgbClr val="01EDFF"/>
                </a:solidFill>
                <a:latin typeface="AC Compacta"/>
                <a:ea typeface="AC Compacta"/>
                <a:cs typeface="AC Compacta"/>
                <a:sym typeface="AC Compacta"/>
              </a:rPr>
              <a:t>PERFORMANCE METRICS &amp; KEY OBSERVATIONS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5640" y="498727"/>
            <a:ext cx="1217936" cy="51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Latency (response time)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Throughput (tasks per second)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Load distribution efficiency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Fault recovery time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Communication overhead</a:t>
            </a:r>
          </a:p>
          <a:p>
            <a:pPr algn="l">
              <a:lnSpc>
                <a:spcPts val="714"/>
              </a:lnSpc>
              <a:spcBef>
                <a:spcPct val="0"/>
              </a:spcBef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Scalability (speed-up vs single node)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82462" y="409764"/>
            <a:ext cx="1420177" cy="8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"/>
              </a:lnSpc>
            </a:pPr>
            <a:r>
              <a:rPr lang="en-US" sz="515" b="true">
                <a:solidFill>
                  <a:srgbClr val="01ED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Metrics Measured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43749" r="-3571" b="-437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81670" y="173751"/>
            <a:ext cx="215480" cy="20559"/>
            <a:chOff x="0" y="0"/>
            <a:chExt cx="397385" cy="379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7385" cy="37914"/>
            </a:xfrm>
            <a:custGeom>
              <a:avLst/>
              <a:gdLst/>
              <a:ahLst/>
              <a:cxnLst/>
              <a:rect r="r" b="b" t="t" l="l"/>
              <a:pathLst>
                <a:path h="37914" w="397385">
                  <a:moveTo>
                    <a:pt x="0" y="0"/>
                  </a:moveTo>
                  <a:lnTo>
                    <a:pt x="397385" y="0"/>
                  </a:lnTo>
                  <a:lnTo>
                    <a:pt x="397385" y="37914"/>
                  </a:lnTo>
                  <a:lnTo>
                    <a:pt x="0" y="37914"/>
                  </a:lnTo>
                  <a:close/>
                </a:path>
              </a:pathLst>
            </a:custGeom>
            <a:solidFill>
              <a:srgbClr val="01E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97385" cy="47439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388" y="22815"/>
            <a:ext cx="180022" cy="1800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1E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 marL="0" indent="0" lvl="0">
                <a:lnSpc>
                  <a:spcPts val="46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2462" y="1013459"/>
            <a:ext cx="1682662" cy="869538"/>
            <a:chOff x="0" y="0"/>
            <a:chExt cx="6967311" cy="36004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67311" cy="3600450"/>
            </a:xfrm>
            <a:custGeom>
              <a:avLst/>
              <a:gdLst/>
              <a:ahLst/>
              <a:cxnLst/>
              <a:rect r="r" b="b" t="t" l="l"/>
              <a:pathLst>
                <a:path h="3600450" w="6967311">
                  <a:moveTo>
                    <a:pt x="898632" y="0"/>
                  </a:moveTo>
                  <a:lnTo>
                    <a:pt x="4643168" y="0"/>
                  </a:lnTo>
                  <a:cubicBezTo>
                    <a:pt x="5220541" y="0"/>
                    <a:pt x="5776305" y="219578"/>
                    <a:pt x="6197763" y="614208"/>
                  </a:cubicBezTo>
                  <a:lnTo>
                    <a:pt x="6311348" y="720562"/>
                  </a:lnTo>
                  <a:cubicBezTo>
                    <a:pt x="6729834" y="1112409"/>
                    <a:pt x="6967311" y="1660100"/>
                    <a:pt x="6967311" y="2233402"/>
                  </a:cubicBezTo>
                  <a:lnTo>
                    <a:pt x="6967311" y="2701818"/>
                  </a:lnTo>
                  <a:cubicBezTo>
                    <a:pt x="6967311" y="2940150"/>
                    <a:pt x="6872634" y="3168721"/>
                    <a:pt x="6704108" y="3337247"/>
                  </a:cubicBezTo>
                  <a:cubicBezTo>
                    <a:pt x="6535582" y="3505773"/>
                    <a:pt x="6307012" y="3600450"/>
                    <a:pt x="6068680" y="3600450"/>
                  </a:cubicBezTo>
                  <a:lnTo>
                    <a:pt x="898632" y="3600450"/>
                  </a:lnTo>
                  <a:cubicBezTo>
                    <a:pt x="660300" y="3600450"/>
                    <a:pt x="431729" y="3505773"/>
                    <a:pt x="263203" y="3337247"/>
                  </a:cubicBezTo>
                  <a:cubicBezTo>
                    <a:pt x="94677" y="3168721"/>
                    <a:pt x="0" y="2940150"/>
                    <a:pt x="0" y="2701818"/>
                  </a:cubicBezTo>
                  <a:lnTo>
                    <a:pt x="0" y="898632"/>
                  </a:lnTo>
                  <a:cubicBezTo>
                    <a:pt x="0" y="660300"/>
                    <a:pt x="94677" y="431729"/>
                    <a:pt x="263203" y="263203"/>
                  </a:cubicBezTo>
                  <a:cubicBezTo>
                    <a:pt x="431729" y="94677"/>
                    <a:pt x="660300" y="0"/>
                    <a:pt x="89863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2295" r="0" b="-12229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399" y="287625"/>
            <a:ext cx="1581908" cy="131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3"/>
              </a:lnSpc>
            </a:pPr>
            <a:r>
              <a:rPr lang="en-US" sz="931">
                <a:solidFill>
                  <a:srgbClr val="01EDFF"/>
                </a:solidFill>
                <a:latin typeface="AC Compacta"/>
                <a:ea typeface="AC Compacta"/>
                <a:cs typeface="AC Compacta"/>
                <a:sym typeface="AC Compacta"/>
              </a:rPr>
              <a:t>PERFORMANCE METRICS &amp; KEY OBSERVATIONS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6237" y="920426"/>
            <a:ext cx="1030633" cy="86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Synchronization &amp; consensus ensured data consistency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Load balancing improved system throughput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MapReduce showed strong parallel processing performance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Replication &amp; recovery improved system reliability</a:t>
            </a:r>
          </a:p>
          <a:p>
            <a:pPr algn="l">
              <a:lnSpc>
                <a:spcPts val="714"/>
              </a:lnSpc>
              <a:spcBef>
                <a:spcPct val="0"/>
              </a:spcBef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Communication overhead reduced ideal speed-up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65587" y="846300"/>
            <a:ext cx="851933" cy="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"/>
              </a:lnSpc>
            </a:pPr>
            <a:r>
              <a:rPr lang="en-US" sz="514" b="true">
                <a:solidFill>
                  <a:srgbClr val="01ED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Observations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5640" y="498727"/>
            <a:ext cx="1217936" cy="51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Latency (response time)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Throughput (tasks per second)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Load distribution efficiency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Fault recovery time</a:t>
            </a:r>
          </a:p>
          <a:p>
            <a:pPr algn="l">
              <a:lnSpc>
                <a:spcPts val="714"/>
              </a:lnSpc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Communication overhead</a:t>
            </a:r>
          </a:p>
          <a:p>
            <a:pPr algn="l">
              <a:lnSpc>
                <a:spcPts val="714"/>
              </a:lnSpc>
              <a:spcBef>
                <a:spcPct val="0"/>
              </a:spcBef>
            </a:pPr>
            <a:r>
              <a:rPr lang="en-US" sz="51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● Scalability (speed-up vs single node)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82462" y="409764"/>
            <a:ext cx="1420177" cy="8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"/>
              </a:lnSpc>
            </a:pPr>
            <a:r>
              <a:rPr lang="en-US" sz="515" b="true">
                <a:solidFill>
                  <a:srgbClr val="01ED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Metrics Measured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00400" cy="1828800"/>
          </a:xfrm>
          <a:custGeom>
            <a:avLst/>
            <a:gdLst/>
            <a:ahLst/>
            <a:cxnLst/>
            <a:rect r="r" b="b" t="t" l="l"/>
            <a:pathLst>
              <a:path h="1828800" w="3200400">
                <a:moveTo>
                  <a:pt x="0" y="0"/>
                </a:moveTo>
                <a:lnTo>
                  <a:pt x="3200400" y="0"/>
                </a:lnTo>
                <a:lnTo>
                  <a:pt x="32004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1" t="-9090" r="-3571" b="-909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0523" y="-260747"/>
            <a:ext cx="540068" cy="54006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6396" y="87561"/>
                  </a:lnTo>
                  <a:lnTo>
                    <a:pt x="553838" y="27679"/>
                  </a:lnTo>
                  <a:lnTo>
                    <a:pt x="578287" y="131093"/>
                  </a:lnTo>
                  <a:lnTo>
                    <a:pt x="681363" y="106978"/>
                  </a:lnTo>
                  <a:lnTo>
                    <a:pt x="666963" y="212279"/>
                  </a:lnTo>
                  <a:lnTo>
                    <a:pt x="771752" y="227186"/>
                  </a:lnTo>
                  <a:lnTo>
                    <a:pt x="720448" y="320152"/>
                  </a:lnTo>
                  <a:lnTo>
                    <a:pt x="812800" y="372069"/>
                  </a:lnTo>
                  <a:lnTo>
                    <a:pt x="731520" y="440145"/>
                  </a:lnTo>
                  <a:lnTo>
                    <a:pt x="798961" y="522061"/>
                  </a:lnTo>
                  <a:lnTo>
                    <a:pt x="698682" y="556053"/>
                  </a:lnTo>
                  <a:lnTo>
                    <a:pt x="732104" y="656904"/>
                  </a:lnTo>
                  <a:lnTo>
                    <a:pt x="626370" y="652219"/>
                  </a:lnTo>
                  <a:lnTo>
                    <a:pt x="621259" y="758384"/>
                  </a:lnTo>
                  <a:lnTo>
                    <a:pt x="524350" y="715658"/>
                  </a:lnTo>
                  <a:lnTo>
                    <a:pt x="481396" y="812800"/>
                  </a:lnTo>
                  <a:lnTo>
                    <a:pt x="406400" y="737801"/>
                  </a:lnTo>
                  <a:lnTo>
                    <a:pt x="331404" y="812800"/>
                  </a:lnTo>
                  <a:lnTo>
                    <a:pt x="288450" y="715658"/>
                  </a:lnTo>
                  <a:lnTo>
                    <a:pt x="191541" y="758384"/>
                  </a:lnTo>
                  <a:lnTo>
                    <a:pt x="186430" y="652219"/>
                  </a:lnTo>
                  <a:lnTo>
                    <a:pt x="80696" y="656904"/>
                  </a:lnTo>
                  <a:lnTo>
                    <a:pt x="114118" y="556053"/>
                  </a:lnTo>
                  <a:lnTo>
                    <a:pt x="13839" y="522061"/>
                  </a:lnTo>
                  <a:lnTo>
                    <a:pt x="81280" y="440145"/>
                  </a:lnTo>
                  <a:lnTo>
                    <a:pt x="0" y="372069"/>
                  </a:lnTo>
                  <a:lnTo>
                    <a:pt x="92352" y="320152"/>
                  </a:lnTo>
                  <a:lnTo>
                    <a:pt x="41047" y="227186"/>
                  </a:lnTo>
                  <a:lnTo>
                    <a:pt x="145837" y="212279"/>
                  </a:lnTo>
                  <a:lnTo>
                    <a:pt x="131437" y="106978"/>
                  </a:lnTo>
                  <a:lnTo>
                    <a:pt x="234513" y="131093"/>
                  </a:lnTo>
                  <a:lnTo>
                    <a:pt x="258962" y="27679"/>
                  </a:lnTo>
                  <a:lnTo>
                    <a:pt x="346404" y="875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E59">
                <a:alpha val="4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9700" y="130175"/>
              <a:ext cx="533400" cy="542925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8923" y="-10799"/>
            <a:ext cx="837923" cy="1800225"/>
          </a:xfrm>
          <a:custGeom>
            <a:avLst/>
            <a:gdLst/>
            <a:ahLst/>
            <a:cxnLst/>
            <a:rect r="r" b="b" t="t" l="l"/>
            <a:pathLst>
              <a:path h="1800225" w="837923">
                <a:moveTo>
                  <a:pt x="0" y="0"/>
                </a:moveTo>
                <a:lnTo>
                  <a:pt x="837923" y="0"/>
                </a:lnTo>
                <a:lnTo>
                  <a:pt x="837923" y="1800225"/>
                </a:lnTo>
                <a:lnTo>
                  <a:pt x="0" y="180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63422" y="512962"/>
            <a:ext cx="248755" cy="467819"/>
            <a:chOff x="0" y="0"/>
            <a:chExt cx="331674" cy="623758"/>
          </a:xfrm>
        </p:grpSpPr>
        <p:sp>
          <p:nvSpPr>
            <p:cNvPr name="AutoShape 8" id="8"/>
            <p:cNvSpPr/>
            <p:nvPr/>
          </p:nvSpPr>
          <p:spPr>
            <a:xfrm rot="5419418">
              <a:off x="-270958" y="298436"/>
              <a:ext cx="589329" cy="0"/>
            </a:xfrm>
            <a:prstGeom prst="line">
              <a:avLst/>
            </a:prstGeom>
            <a:ln cap="flat" w="6667">
              <a:solidFill>
                <a:srgbClr val="FFFFFF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rot="10795035">
              <a:off x="25375" y="221"/>
              <a:ext cx="306294" cy="0"/>
            </a:xfrm>
            <a:prstGeom prst="line">
              <a:avLst/>
            </a:prstGeom>
            <a:ln cap="flat" w="6667">
              <a:solidFill>
                <a:srgbClr val="FFFFFF"/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579674"/>
              <a:ext cx="44084" cy="4408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86311" lIns="86311" bIns="86311" rIns="86311"/>
              <a:lstStyle/>
              <a:p>
                <a:pPr algn="ctr">
                  <a:lnSpc>
                    <a:spcPts val="18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338309" y="746871"/>
            <a:ext cx="33063" cy="218857"/>
            <a:chOff x="0" y="0"/>
            <a:chExt cx="44084" cy="291809"/>
          </a:xfrm>
        </p:grpSpPr>
        <p:sp>
          <p:nvSpPr>
            <p:cNvPr name="AutoShape 14" id="14"/>
            <p:cNvSpPr/>
            <p:nvPr/>
          </p:nvSpPr>
          <p:spPr>
            <a:xfrm rot="5400000">
              <a:off x="-110198" y="128464"/>
              <a:ext cx="264481" cy="0"/>
            </a:xfrm>
            <a:prstGeom prst="line">
              <a:avLst/>
            </a:prstGeom>
            <a:ln cap="flat" w="7552">
              <a:solidFill>
                <a:srgbClr val="FFFFFF"/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15" id="15"/>
            <p:cNvGrpSpPr/>
            <p:nvPr/>
          </p:nvGrpSpPr>
          <p:grpSpPr>
            <a:xfrm rot="0">
              <a:off x="0" y="247725"/>
              <a:ext cx="44084" cy="4408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true" flipV="false" rot="0">
            <a:off x="2390128" y="0"/>
            <a:ext cx="837923" cy="1800225"/>
          </a:xfrm>
          <a:custGeom>
            <a:avLst/>
            <a:gdLst/>
            <a:ahLst/>
            <a:cxnLst/>
            <a:rect r="r" b="b" t="t" l="l"/>
            <a:pathLst>
              <a:path h="1800225" w="837923">
                <a:moveTo>
                  <a:pt x="837923" y="0"/>
                </a:moveTo>
                <a:lnTo>
                  <a:pt x="0" y="0"/>
                </a:lnTo>
                <a:lnTo>
                  <a:pt x="0" y="1800225"/>
                </a:lnTo>
                <a:lnTo>
                  <a:pt x="837923" y="1800225"/>
                </a:lnTo>
                <a:lnTo>
                  <a:pt x="837923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582314" y="512962"/>
            <a:ext cx="246139" cy="473483"/>
            <a:chOff x="0" y="0"/>
            <a:chExt cx="328185" cy="631310"/>
          </a:xfrm>
        </p:grpSpPr>
        <p:sp>
          <p:nvSpPr>
            <p:cNvPr name="AutoShape 20" id="20"/>
            <p:cNvSpPr/>
            <p:nvPr/>
          </p:nvSpPr>
          <p:spPr>
            <a:xfrm rot="10795035">
              <a:off x="5" y="221"/>
              <a:ext cx="306294" cy="0"/>
            </a:xfrm>
            <a:prstGeom prst="line">
              <a:avLst/>
            </a:prstGeom>
            <a:ln cap="flat" w="6667">
              <a:solidFill>
                <a:srgbClr val="FFFFFF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rot="5421732">
              <a:off x="9368" y="302433"/>
              <a:ext cx="597326" cy="0"/>
            </a:xfrm>
            <a:prstGeom prst="line">
              <a:avLst/>
            </a:prstGeom>
            <a:ln cap="flat" w="6667">
              <a:solidFill>
                <a:srgbClr val="FFFFFF"/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284102" y="587227"/>
              <a:ext cx="44084" cy="44084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984774" y="761924"/>
            <a:ext cx="33063" cy="218857"/>
            <a:chOff x="0" y="0"/>
            <a:chExt cx="44084" cy="291809"/>
          </a:xfrm>
        </p:grpSpPr>
        <p:sp>
          <p:nvSpPr>
            <p:cNvPr name="AutoShape 26" id="26"/>
            <p:cNvSpPr/>
            <p:nvPr/>
          </p:nvSpPr>
          <p:spPr>
            <a:xfrm rot="5400000">
              <a:off x="-110198" y="128464"/>
              <a:ext cx="264481" cy="0"/>
            </a:xfrm>
            <a:prstGeom prst="line">
              <a:avLst/>
            </a:prstGeom>
            <a:ln cap="flat" w="7552">
              <a:solidFill>
                <a:srgbClr val="FFFFFF"/>
              </a:solidFill>
              <a:prstDash val="sysDash"/>
              <a:headEnd type="none" len="sm" w="sm"/>
              <a:tailEnd type="none" len="sm" w="sm"/>
            </a:ln>
          </p:spPr>
        </p:sp>
        <p:grpSp>
          <p:nvGrpSpPr>
            <p:cNvPr name="Group 27" id="27"/>
            <p:cNvGrpSpPr/>
            <p:nvPr/>
          </p:nvGrpSpPr>
          <p:grpSpPr>
            <a:xfrm rot="0">
              <a:off x="0" y="247725"/>
              <a:ext cx="44084" cy="44084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"/>
                  </a:lnSpc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1945531" y="1029878"/>
            <a:ext cx="144612" cy="119897"/>
          </a:xfrm>
          <a:custGeom>
            <a:avLst/>
            <a:gdLst/>
            <a:ahLst/>
            <a:cxnLst/>
            <a:rect r="r" b="b" t="t" l="l"/>
            <a:pathLst>
              <a:path h="119897" w="144612">
                <a:moveTo>
                  <a:pt x="0" y="0"/>
                </a:moveTo>
                <a:lnTo>
                  <a:pt x="144612" y="0"/>
                </a:lnTo>
                <a:lnTo>
                  <a:pt x="144612" y="119897"/>
                </a:lnTo>
                <a:lnTo>
                  <a:pt x="0" y="119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751868" y="1017148"/>
            <a:ext cx="114444" cy="154654"/>
          </a:xfrm>
          <a:custGeom>
            <a:avLst/>
            <a:gdLst/>
            <a:ahLst/>
            <a:cxnLst/>
            <a:rect r="r" b="b" t="t" l="l"/>
            <a:pathLst>
              <a:path h="154654" w="114444">
                <a:moveTo>
                  <a:pt x="0" y="0"/>
                </a:moveTo>
                <a:lnTo>
                  <a:pt x="114444" y="0"/>
                </a:lnTo>
                <a:lnTo>
                  <a:pt x="114444" y="154654"/>
                </a:lnTo>
                <a:lnTo>
                  <a:pt x="0" y="154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11773" y="1022592"/>
            <a:ext cx="130696" cy="143766"/>
          </a:xfrm>
          <a:custGeom>
            <a:avLst/>
            <a:gdLst/>
            <a:ahLst/>
            <a:cxnLst/>
            <a:rect r="r" b="b" t="t" l="l"/>
            <a:pathLst>
              <a:path h="143766" w="130696">
                <a:moveTo>
                  <a:pt x="0" y="0"/>
                </a:moveTo>
                <a:lnTo>
                  <a:pt x="130696" y="0"/>
                </a:lnTo>
                <a:lnTo>
                  <a:pt x="130696" y="143766"/>
                </a:lnTo>
                <a:lnTo>
                  <a:pt x="0" y="1437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17778" y="989667"/>
            <a:ext cx="108000" cy="160108"/>
          </a:xfrm>
          <a:custGeom>
            <a:avLst/>
            <a:gdLst/>
            <a:ahLst/>
            <a:cxnLst/>
            <a:rect r="r" b="b" t="t" l="l"/>
            <a:pathLst>
              <a:path h="160108" w="108000">
                <a:moveTo>
                  <a:pt x="0" y="0"/>
                </a:moveTo>
                <a:lnTo>
                  <a:pt x="108001" y="0"/>
                </a:lnTo>
                <a:lnTo>
                  <a:pt x="108001" y="160108"/>
                </a:lnTo>
                <a:lnTo>
                  <a:pt x="0" y="1601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0" y="910233"/>
            <a:ext cx="127368" cy="8334"/>
            <a:chOff x="0" y="0"/>
            <a:chExt cx="191688" cy="125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1688" cy="12543"/>
            </a:xfrm>
            <a:custGeom>
              <a:avLst/>
              <a:gdLst/>
              <a:ahLst/>
              <a:cxnLst/>
              <a:rect r="r" b="b" t="t" l="l"/>
              <a:pathLst>
                <a:path h="12543" w="191688">
                  <a:moveTo>
                    <a:pt x="0" y="0"/>
                  </a:moveTo>
                  <a:lnTo>
                    <a:pt x="191688" y="0"/>
                  </a:lnTo>
                  <a:lnTo>
                    <a:pt x="19168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91688" cy="2206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9562" y="384707"/>
            <a:ext cx="1912479" cy="181189"/>
            <a:chOff x="0" y="0"/>
            <a:chExt cx="13020691" cy="12335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20691" cy="1233587"/>
            </a:xfrm>
            <a:custGeom>
              <a:avLst/>
              <a:gdLst/>
              <a:ahLst/>
              <a:cxnLst/>
              <a:rect r="r" b="b" t="t" l="l"/>
              <a:pathLst>
                <a:path h="1233587" w="13020691">
                  <a:moveTo>
                    <a:pt x="3239719" y="0"/>
                  </a:moveTo>
                  <a:lnTo>
                    <a:pt x="9780972" y="0"/>
                  </a:lnTo>
                  <a:cubicBezTo>
                    <a:pt x="11570425" y="0"/>
                    <a:pt x="13020691" y="225746"/>
                    <a:pt x="13020691" y="504291"/>
                  </a:cubicBezTo>
                  <a:lnTo>
                    <a:pt x="13020691" y="1233587"/>
                  </a:lnTo>
                  <a:lnTo>
                    <a:pt x="0" y="1233587"/>
                  </a:lnTo>
                  <a:lnTo>
                    <a:pt x="0" y="504291"/>
                  </a:lnTo>
                  <a:cubicBezTo>
                    <a:pt x="0" y="225746"/>
                    <a:pt x="1450266" y="0"/>
                    <a:pt x="3239719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25779" y="512962"/>
            <a:ext cx="180023" cy="8334"/>
            <a:chOff x="0" y="0"/>
            <a:chExt cx="270933" cy="125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0933" cy="12543"/>
            </a:xfrm>
            <a:custGeom>
              <a:avLst/>
              <a:gdLst/>
              <a:ahLst/>
              <a:cxnLst/>
              <a:rect r="r" b="b" t="t" l="l"/>
              <a:pathLst>
                <a:path h="1254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70933" cy="22068"/>
            </a:xfrm>
            <a:prstGeom prst="rect">
              <a:avLst/>
            </a:prstGeom>
          </p:spPr>
          <p:txBody>
            <a:bodyPr anchor="ctr" rtlCol="false" tIns="8890" lIns="8890" bIns="8890" rIns="8890"/>
            <a:lstStyle/>
            <a:p>
              <a:pPr algn="ctr">
                <a:lnSpc>
                  <a:spcPts val="46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436637" y="1166358"/>
            <a:ext cx="744906" cy="478846"/>
            <a:chOff x="0" y="0"/>
            <a:chExt cx="1264416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64416" cy="812800"/>
            </a:xfrm>
            <a:custGeom>
              <a:avLst/>
              <a:gdLst/>
              <a:ahLst/>
              <a:cxnLst/>
              <a:rect r="r" b="b" t="t" l="l"/>
              <a:pathLst>
                <a:path h="812800" w="1264416">
                  <a:moveTo>
                    <a:pt x="41573" y="0"/>
                  </a:moveTo>
                  <a:lnTo>
                    <a:pt x="1222843" y="0"/>
                  </a:lnTo>
                  <a:cubicBezTo>
                    <a:pt x="1233869" y="0"/>
                    <a:pt x="1244443" y="4380"/>
                    <a:pt x="1252239" y="12176"/>
                  </a:cubicBezTo>
                  <a:cubicBezTo>
                    <a:pt x="1260036" y="19973"/>
                    <a:pt x="1264416" y="30547"/>
                    <a:pt x="1264416" y="41573"/>
                  </a:cubicBezTo>
                  <a:lnTo>
                    <a:pt x="1264416" y="771227"/>
                  </a:lnTo>
                  <a:cubicBezTo>
                    <a:pt x="1264416" y="794187"/>
                    <a:pt x="1245803" y="812800"/>
                    <a:pt x="1222843" y="812800"/>
                  </a:cubicBezTo>
                  <a:lnTo>
                    <a:pt x="41573" y="812800"/>
                  </a:lnTo>
                  <a:cubicBezTo>
                    <a:pt x="18613" y="812800"/>
                    <a:pt x="0" y="794187"/>
                    <a:pt x="0" y="771227"/>
                  </a:cubicBezTo>
                  <a:lnTo>
                    <a:pt x="0" y="41573"/>
                  </a:lnTo>
                  <a:cubicBezTo>
                    <a:pt x="0" y="18613"/>
                    <a:pt x="18613" y="0"/>
                    <a:pt x="41573" y="0"/>
                  </a:cubicBezTo>
                  <a:close/>
                </a:path>
              </a:pathLst>
            </a:custGeom>
            <a:solidFill>
              <a:srgbClr val="051D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3684" y="1171802"/>
            <a:ext cx="1030591" cy="478846"/>
            <a:chOff x="0" y="0"/>
            <a:chExt cx="1749341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49341" cy="812800"/>
            </a:xfrm>
            <a:custGeom>
              <a:avLst/>
              <a:gdLst/>
              <a:ahLst/>
              <a:cxnLst/>
              <a:rect r="r" b="b" t="t" l="l"/>
              <a:pathLst>
                <a:path h="812800" w="1749341">
                  <a:moveTo>
                    <a:pt x="165267" y="0"/>
                  </a:moveTo>
                  <a:lnTo>
                    <a:pt x="1584075" y="0"/>
                  </a:lnTo>
                  <a:cubicBezTo>
                    <a:pt x="1675349" y="0"/>
                    <a:pt x="1749341" y="73992"/>
                    <a:pt x="1749341" y="165267"/>
                  </a:cubicBezTo>
                  <a:lnTo>
                    <a:pt x="1749341" y="647533"/>
                  </a:lnTo>
                  <a:cubicBezTo>
                    <a:pt x="1749341" y="738808"/>
                    <a:pt x="1675349" y="812800"/>
                    <a:pt x="1584075" y="812800"/>
                  </a:cubicBezTo>
                  <a:lnTo>
                    <a:pt x="165267" y="812800"/>
                  </a:lnTo>
                  <a:cubicBezTo>
                    <a:pt x="73992" y="812800"/>
                    <a:pt x="0" y="738808"/>
                    <a:pt x="0" y="647533"/>
                  </a:cubicBezTo>
                  <a:lnTo>
                    <a:pt x="0" y="165267"/>
                  </a:lnTo>
                  <a:cubicBezTo>
                    <a:pt x="0" y="73992"/>
                    <a:pt x="73992" y="0"/>
                    <a:pt x="165267" y="0"/>
                  </a:cubicBezTo>
                  <a:close/>
                </a:path>
              </a:pathLst>
            </a:custGeom>
            <a:solidFill>
              <a:srgbClr val="051D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04148" y="1166358"/>
            <a:ext cx="581142" cy="648155"/>
            <a:chOff x="0" y="0"/>
            <a:chExt cx="986440" cy="11001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6440" cy="1100188"/>
            </a:xfrm>
            <a:custGeom>
              <a:avLst/>
              <a:gdLst/>
              <a:ahLst/>
              <a:cxnLst/>
              <a:rect r="r" b="b" t="t" l="l"/>
              <a:pathLst>
                <a:path h="1100188" w="986440">
                  <a:moveTo>
                    <a:pt x="186507" y="0"/>
                  </a:moveTo>
                  <a:lnTo>
                    <a:pt x="799934" y="0"/>
                  </a:lnTo>
                  <a:cubicBezTo>
                    <a:pt x="902938" y="0"/>
                    <a:pt x="986440" y="83502"/>
                    <a:pt x="986440" y="186507"/>
                  </a:cubicBezTo>
                  <a:lnTo>
                    <a:pt x="986440" y="913681"/>
                  </a:lnTo>
                  <a:cubicBezTo>
                    <a:pt x="986440" y="963146"/>
                    <a:pt x="966791" y="1010585"/>
                    <a:pt x="931814" y="1045561"/>
                  </a:cubicBezTo>
                  <a:cubicBezTo>
                    <a:pt x="896837" y="1080538"/>
                    <a:pt x="849398" y="1100188"/>
                    <a:pt x="799934" y="1100188"/>
                  </a:cubicBezTo>
                  <a:lnTo>
                    <a:pt x="186507" y="1100188"/>
                  </a:lnTo>
                  <a:cubicBezTo>
                    <a:pt x="137042" y="1100188"/>
                    <a:pt x="89603" y="1080538"/>
                    <a:pt x="54627" y="1045561"/>
                  </a:cubicBezTo>
                  <a:cubicBezTo>
                    <a:pt x="19650" y="1010585"/>
                    <a:pt x="0" y="963146"/>
                    <a:pt x="0" y="913681"/>
                  </a:cubicBezTo>
                  <a:lnTo>
                    <a:pt x="0" y="186507"/>
                  </a:lnTo>
                  <a:cubicBezTo>
                    <a:pt x="0" y="137042"/>
                    <a:pt x="19650" y="89603"/>
                    <a:pt x="54627" y="54627"/>
                  </a:cubicBezTo>
                  <a:cubicBezTo>
                    <a:pt x="89603" y="19650"/>
                    <a:pt x="137042" y="0"/>
                    <a:pt x="186507" y="0"/>
                  </a:cubicBezTo>
                  <a:close/>
                </a:path>
              </a:pathLst>
            </a:custGeom>
            <a:solidFill>
              <a:srgbClr val="051D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790065" y="1171802"/>
            <a:ext cx="581142" cy="599440"/>
            <a:chOff x="0" y="0"/>
            <a:chExt cx="986440" cy="10174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86440" cy="1017498"/>
            </a:xfrm>
            <a:custGeom>
              <a:avLst/>
              <a:gdLst/>
              <a:ahLst/>
              <a:cxnLst/>
              <a:rect r="r" b="b" t="t" l="l"/>
              <a:pathLst>
                <a:path h="1017498" w="986440">
                  <a:moveTo>
                    <a:pt x="93253" y="0"/>
                  </a:moveTo>
                  <a:lnTo>
                    <a:pt x="893187" y="0"/>
                  </a:lnTo>
                  <a:cubicBezTo>
                    <a:pt x="944689" y="0"/>
                    <a:pt x="986440" y="41751"/>
                    <a:pt x="986440" y="93253"/>
                  </a:cubicBezTo>
                  <a:lnTo>
                    <a:pt x="986440" y="924245"/>
                  </a:lnTo>
                  <a:cubicBezTo>
                    <a:pt x="986440" y="975747"/>
                    <a:pt x="944689" y="1017498"/>
                    <a:pt x="893187" y="1017498"/>
                  </a:cubicBezTo>
                  <a:lnTo>
                    <a:pt x="93253" y="1017498"/>
                  </a:lnTo>
                  <a:cubicBezTo>
                    <a:pt x="41751" y="1017498"/>
                    <a:pt x="0" y="975747"/>
                    <a:pt x="0" y="924245"/>
                  </a:cubicBezTo>
                  <a:lnTo>
                    <a:pt x="0" y="93253"/>
                  </a:lnTo>
                  <a:cubicBezTo>
                    <a:pt x="0" y="41751"/>
                    <a:pt x="41751" y="0"/>
                    <a:pt x="93253" y="0"/>
                  </a:cubicBezTo>
                  <a:close/>
                </a:path>
              </a:pathLst>
            </a:custGeom>
            <a:solidFill>
              <a:srgbClr val="051D4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182880" y="1180462"/>
            <a:ext cx="911395" cy="47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"/>
              </a:lnSpc>
            </a:pPr>
            <a:r>
              <a:rPr lang="en-US" b="true" sz="400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Distributed algorithms enable high-availability mobile and core networks by supporting:</a:t>
            </a:r>
          </a:p>
          <a:p>
            <a:pPr algn="l" marL="86360" indent="-43180" lvl="1">
              <a:lnSpc>
                <a:spcPts val="560"/>
              </a:lnSpc>
              <a:buFont typeface="Arial"/>
              <a:buChar char="•"/>
            </a:pPr>
            <a:r>
              <a:rPr lang="en-US" b="true" sz="400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Load balancing of voice, data &amp; signaling traffic</a:t>
            </a:r>
          </a:p>
          <a:p>
            <a:pPr algn="l" marL="86360" indent="-43180" lvl="1">
              <a:lnSpc>
                <a:spcPts val="560"/>
              </a:lnSpc>
              <a:buFont typeface="Arial"/>
              <a:buChar char="•"/>
            </a:pPr>
            <a:r>
              <a:rPr lang="en-US" b="true" sz="400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Redundant routing and failover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94275" y="1180462"/>
            <a:ext cx="58423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Consensus &amp; synchronization ensure:</a:t>
            </a:r>
          </a:p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Consistent routing tables</a:t>
            </a:r>
          </a:p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Accurate billing records</a:t>
            </a:r>
          </a:p>
          <a:p>
            <a:pPr algn="ctr" marL="0" indent="0" lvl="0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Reliable session management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860583" y="1180462"/>
            <a:ext cx="440106" cy="4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Fault-tolerant designs reduce:</a:t>
            </a:r>
          </a:p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Dropped calls</a:t>
            </a:r>
          </a:p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Network outages</a:t>
            </a:r>
          </a:p>
          <a:p>
            <a:pPr algn="ctr" marL="0" indent="0" lvl="0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Service interruptions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436637" y="1214328"/>
            <a:ext cx="7449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Real-time scheduling &amp; resource allocation improve:</a:t>
            </a:r>
          </a:p>
          <a:p>
            <a:pPr algn="ctr" marL="0" indent="0" lvl="0">
              <a:lnSpc>
                <a:spcPts val="559"/>
              </a:lnSpc>
            </a:pPr>
            <a:r>
              <a:rPr lang="en-US" b="true" sz="399" spc="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● 5G network slicing, Edge computing, Media streaming quality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90750" y="425094"/>
            <a:ext cx="1818901" cy="8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"/>
              </a:lnSpc>
            </a:pPr>
            <a:r>
              <a:rPr lang="en-US" sz="52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IMPLICATIONS FOR TELECOMMUNICATION SYSTEM</a:t>
            </a:r>
            <a:r>
              <a:rPr lang="en-US" sz="52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245" y="480882"/>
            <a:ext cx="615910" cy="615910"/>
          </a:xfrm>
          <a:custGeom>
            <a:avLst/>
            <a:gdLst/>
            <a:ahLst/>
            <a:cxnLst/>
            <a:rect r="r" b="b" t="t" l="l"/>
            <a:pathLst>
              <a:path h="615910" w="615910">
                <a:moveTo>
                  <a:pt x="0" y="0"/>
                </a:moveTo>
                <a:lnTo>
                  <a:pt x="615910" y="0"/>
                </a:lnTo>
                <a:lnTo>
                  <a:pt x="615910" y="615911"/>
                </a:lnTo>
                <a:lnTo>
                  <a:pt x="0" y="6159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9144" y="1218788"/>
            <a:ext cx="882111" cy="502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DAG56u7zZA4</dc:identifier>
  <dcterms:modified xsi:type="dcterms:W3CDTF">2011-08-01T06:04:30Z</dcterms:modified>
  <cp:revision>1</cp:revision>
  <dc:title>Blue Modern Technology Company Business Card</dc:title>
</cp:coreProperties>
</file>